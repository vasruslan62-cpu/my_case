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2.xml" ContentType="application/vnd.openxmlformats-officedocument.themeOverr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heme/themeOverride3.xml" ContentType="application/vnd.openxmlformats-officedocument.themeOverr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theme/themeOverride4.xml" ContentType="application/vnd.openxmlformats-officedocument.themeOverr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theme/themeOverride5.xml" ContentType="application/vnd.openxmlformats-officedocument.themeOverrid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theme/themeOverride6.xml" ContentType="application/vnd.openxmlformats-officedocument.themeOverrid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theme/themeOverride7.xml" ContentType="application/vnd.openxmlformats-officedocument.themeOverrid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theme/themeOverride10.xml" ContentType="application/vnd.openxmlformats-officedocument.themeOverrid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theme/themeOverride11.xml" ContentType="application/vnd.openxmlformats-officedocument.themeOverride+xml"/>
  <Override PartName="/ppt/charts/chart16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theme/themeOverride12.xml" ContentType="application/vnd.openxmlformats-officedocument.themeOverride+xml"/>
  <Override PartName="/ppt/charts/chart17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charts/chart18.xml" ContentType="application/vnd.openxmlformats-officedocument.drawingml.chart+xml"/>
  <Override PartName="/ppt/charts/style18.xml" ContentType="application/vnd.ms-office.chartstyle+xml"/>
  <Override PartName="/ppt/charts/colors18.xml" ContentType="application/vnd.ms-office.chartcolorstyle+xml"/>
  <Override PartName="/ppt/theme/themeOverride13.xml" ContentType="application/vnd.openxmlformats-officedocument.themeOverride+xml"/>
  <Override PartName="/ppt/theme/themeOverride14.xml" ContentType="application/vnd.openxmlformats-officedocument.themeOverride+xml"/>
  <Override PartName="/ppt/theme/themeOverride15.xml" ContentType="application/vnd.openxmlformats-officedocument.themeOverride+xml"/>
  <Override PartName="/ppt/charts/chart19.xml" ContentType="application/vnd.openxmlformats-officedocument.drawingml.chart+xml"/>
  <Override PartName="/ppt/charts/style19.xml" ContentType="application/vnd.ms-office.chartstyle+xml"/>
  <Override PartName="/ppt/charts/colors19.xml" ContentType="application/vnd.ms-office.chartcolorstyle+xml"/>
  <Override PartName="/ppt/theme/themeOverride16.xml" ContentType="application/vnd.openxmlformats-officedocument.themeOverride+xml"/>
  <Override PartName="/ppt/theme/themeOverride17.xml" ContentType="application/vnd.openxmlformats-officedocument.themeOverride+xml"/>
  <Override PartName="/ppt/theme/themeOverride18.xml" ContentType="application/vnd.openxmlformats-officedocument.themeOverride+xml"/>
  <Override PartName="/ppt/theme/themeOverride19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68" r:id="rId15"/>
    <p:sldId id="271" r:id="rId16"/>
    <p:sldId id="272" r:id="rId17"/>
    <p:sldId id="273" r:id="rId18"/>
    <p:sldId id="274" r:id="rId19"/>
    <p:sldId id="276" r:id="rId20"/>
    <p:sldId id="278" r:id="rId2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Светлый стиль 3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B4B98B0-60AC-42C2-AFA5-B58CD77FA1E5}" styleName="Светлый стиль 1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F:\&#1054;&#1073;&#1091;&#1095;&#1077;&#1085;&#1080;&#1077;%202025\&#1047;&#1072;&#1085;&#1103;&#1090;&#1080;&#1103;\&#1050;&#1091;&#1088;&#1089;&#1086;&#1074;&#1072;&#1103;%20&#1088;&#1072;&#1073;&#1086;&#1090;&#1072;\&#1050;&#1091;&#1088;&#1089;&#1086;&#1074;&#1072;&#1103;%20&#1088;&#1072;&#1073;&#1086;&#1090;&#1072;%20&#8470;1\Transaction_list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F:\&#1054;&#1073;&#1091;&#1095;&#1077;&#1085;&#1080;&#1077;%202025\&#1047;&#1072;&#1085;&#1103;&#1090;&#1080;&#1103;\&#1050;&#1091;&#1088;&#1089;&#1086;&#1074;&#1072;&#1103;%20&#1088;&#1072;&#1073;&#1086;&#1090;&#1072;\&#1050;&#1091;&#1088;&#1089;&#1086;&#1074;&#1072;&#1103;%20&#1088;&#1072;&#1073;&#1086;&#1090;&#1072;%20&#8470;1\Transaction_list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F:\&#1054;&#1073;&#1091;&#1095;&#1077;&#1085;&#1080;&#1077;%202025\&#1047;&#1072;&#1085;&#1103;&#1090;&#1080;&#1103;\&#1050;&#1091;&#1088;&#1089;&#1086;&#1074;&#1072;&#1103;%20&#1088;&#1072;&#1073;&#1086;&#1090;&#1072;\&#1050;&#1091;&#1088;&#1089;&#1086;&#1074;&#1072;&#1103;%20&#1088;&#1072;&#1073;&#1086;&#1090;&#1072;%20&#8470;1\Transaction_list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F:\&#1054;&#1073;&#1091;&#1095;&#1077;&#1085;&#1080;&#1077;%202025\&#1047;&#1072;&#1085;&#1103;&#1090;&#1080;&#1103;\&#1050;&#1091;&#1088;&#1089;&#1086;&#1074;&#1072;&#1103;%20&#1088;&#1072;&#1073;&#1086;&#1090;&#1072;\&#1050;&#1091;&#1088;&#1089;&#1086;&#1074;&#1072;&#1103;%20&#1088;&#1072;&#1073;&#1086;&#1090;&#1072;%20&#8470;1\Transaction_list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F:\&#1054;&#1073;&#1091;&#1095;&#1077;&#1085;&#1080;&#1077;%202025\&#1047;&#1072;&#1085;&#1103;&#1090;&#1080;&#1103;\&#1050;&#1091;&#1088;&#1089;&#1086;&#1074;&#1072;&#1103;%20&#1088;&#1072;&#1073;&#1086;&#1090;&#1072;\&#1050;&#1091;&#1088;&#1089;&#1086;&#1074;&#1072;&#1103;%20&#1088;&#1072;&#1073;&#1086;&#1090;&#1072;%20&#8470;1\Transaction_list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F:\&#1054;&#1073;&#1091;&#1095;&#1077;&#1085;&#1080;&#1077;%202025\&#1047;&#1072;&#1085;&#1103;&#1090;&#1080;&#1103;\&#1050;&#1091;&#1088;&#1089;&#1086;&#1074;&#1072;&#1103;%20&#1088;&#1072;&#1073;&#1086;&#1090;&#1072;\&#1050;&#1091;&#1088;&#1089;&#1086;&#1074;&#1072;&#1103;%20&#1088;&#1072;&#1073;&#1086;&#1090;&#1072;%20&#8470;1\Transaction_list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F:\&#1054;&#1073;&#1091;&#1095;&#1077;&#1085;&#1080;&#1077;%202025\&#1047;&#1072;&#1085;&#1103;&#1090;&#1080;&#1103;\&#1050;&#1091;&#1088;&#1089;&#1086;&#1074;&#1072;&#1103;%20&#1088;&#1072;&#1073;&#1086;&#1090;&#1072;\&#1050;&#1091;&#1088;&#1089;&#1086;&#1074;&#1072;&#1103;%20&#1088;&#1072;&#1073;&#1086;&#1090;&#1072;%20&#8470;1\Transaction_list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F:\&#1054;&#1073;&#1091;&#1095;&#1077;&#1085;&#1080;&#1077;%202025\&#1047;&#1072;&#1085;&#1103;&#1090;&#1080;&#1103;\&#1050;&#1091;&#1088;&#1089;&#1086;&#1074;&#1072;&#1103;%20&#1088;&#1072;&#1073;&#1086;&#1090;&#1072;\&#1050;&#1091;&#1088;&#1089;&#1086;&#1074;&#1072;&#1103;%20&#1088;&#1072;&#1073;&#1086;&#1090;&#1072;%20&#8470;1\Transaction_list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F:\&#1054;&#1073;&#1091;&#1095;&#1077;&#1085;&#1080;&#1077;%202025\&#1047;&#1072;&#1085;&#1103;&#1090;&#1080;&#1103;\&#1050;&#1091;&#1088;&#1089;&#1086;&#1074;&#1072;&#1103;%20&#1088;&#1072;&#1073;&#1086;&#1090;&#1072;\&#1050;&#1091;&#1088;&#1089;&#1086;&#1074;&#1072;&#1103;%20&#1088;&#1072;&#1073;&#1086;&#1090;&#1072;%20&#8470;1\Transaction_list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file:///F:\&#1054;&#1073;&#1091;&#1095;&#1077;&#1085;&#1080;&#1077;%202025\&#1047;&#1072;&#1085;&#1103;&#1090;&#1080;&#1103;\&#1050;&#1091;&#1088;&#1089;&#1086;&#1074;&#1072;&#1103;%20&#1088;&#1072;&#1073;&#1086;&#1090;&#1072;\&#1050;&#1091;&#1088;&#1089;&#1086;&#1074;&#1072;&#1103;%20&#1088;&#1072;&#1073;&#1086;&#1090;&#1072;%20&#8470;1\Transaction_list.xlsx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file:///F:\&#1054;&#1073;&#1091;&#1095;&#1077;&#1085;&#1080;&#1077;%202025\&#1047;&#1072;&#1085;&#1103;&#1090;&#1080;&#1103;\&#1050;&#1091;&#1088;&#1089;&#1086;&#1074;&#1072;&#1103;%20&#1088;&#1072;&#1073;&#1086;&#1090;&#1072;\&#1050;&#1091;&#1088;&#1089;&#1086;&#1074;&#1072;&#1103;%20&#1088;&#1072;&#1073;&#1086;&#1090;&#1072;%20&#8470;1\Transaction_list.xlsx" TargetMode="External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oleObject" Target="file:///F:\&#1054;&#1073;&#1091;&#1095;&#1077;&#1085;&#1080;&#1077;%202025\&#1047;&#1072;&#1085;&#1103;&#1090;&#1080;&#1103;\&#1050;&#1091;&#1088;&#1089;&#1086;&#1074;&#1072;&#1103;%20&#1088;&#1072;&#1073;&#1086;&#1090;&#1072;\&#1050;&#1091;&#1088;&#1089;&#1086;&#1074;&#1072;&#1103;%20&#1088;&#1072;&#1073;&#1086;&#1090;&#1072;%20&#8470;1\Transaction_list.xlsx" TargetMode="External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oleObject" Target="file:///F:\&#1054;&#1073;&#1091;&#1095;&#1077;&#1085;&#1080;&#1077;%202025\&#1047;&#1072;&#1085;&#1103;&#1090;&#1080;&#1103;\&#1050;&#1091;&#1088;&#1089;&#1086;&#1074;&#1072;&#1103;%20&#1088;&#1072;&#1073;&#1086;&#1090;&#1072;\&#1050;&#1091;&#1088;&#1089;&#1086;&#1074;&#1072;&#1103;%20&#1088;&#1072;&#1073;&#1086;&#1090;&#1072;%20&#8470;1\Transaction_list.xlsx" TargetMode="External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oleObject" Target="file:///F:\&#1054;&#1073;&#1091;&#1095;&#1077;&#1085;&#1080;&#1077;%202025\&#1047;&#1072;&#1085;&#1103;&#1090;&#1080;&#1103;\&#1050;&#1091;&#1088;&#1089;&#1086;&#1074;&#1072;&#1103;%20&#1088;&#1072;&#1073;&#1086;&#1090;&#1072;\&#1050;&#1091;&#1088;&#1089;&#1086;&#1074;&#1072;&#1103;%20&#1088;&#1072;&#1073;&#1086;&#1090;&#1072;%20&#8470;1\Transaction_list2.xlsx" TargetMode="External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oleObject" Target="file:///F:\&#1054;&#1073;&#1091;&#1095;&#1077;&#1085;&#1080;&#1077;%202025\&#1047;&#1072;&#1085;&#1103;&#1090;&#1080;&#1103;\&#1050;&#1091;&#1088;&#1089;&#1086;&#1074;&#1072;&#1103;%20&#1088;&#1072;&#1073;&#1086;&#1090;&#1072;\&#1050;&#1091;&#1088;&#1089;&#1086;&#1074;&#1072;&#1103;%20&#1088;&#1072;&#1073;&#1086;&#1090;&#1072;%20&#8470;1\Transaction_list2.xlsx" TargetMode="External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oleObject" Target="file:///F:\&#1054;&#1073;&#1091;&#1095;&#1077;&#1085;&#1080;&#1077;%202025\&#1047;&#1072;&#1085;&#1103;&#1090;&#1080;&#1103;\&#1050;&#1091;&#1088;&#1089;&#1086;&#1074;&#1072;&#1103;%20&#1088;&#1072;&#1073;&#1086;&#1090;&#1072;\&#1050;&#1091;&#1088;&#1089;&#1086;&#1074;&#1072;&#1103;%20&#1088;&#1072;&#1073;&#1086;&#1090;&#1072;%20&#8470;1\Transaction_list2.xlsx" TargetMode="External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oleObject" Target="file:///F:\&#1054;&#1073;&#1091;&#1095;&#1077;&#1085;&#1080;&#1077;%202025\&#1047;&#1072;&#1085;&#1103;&#1090;&#1080;&#1103;\&#1050;&#1091;&#1088;&#1089;&#1086;&#1074;&#1072;&#1103;%20&#1088;&#1072;&#1073;&#1086;&#1090;&#1072;\&#1050;&#1091;&#1088;&#1089;&#1086;&#1074;&#1072;&#1103;%20&#1088;&#1072;&#1073;&#1086;&#1090;&#1072;%20&#8470;1\Transaction_list2.xlsx" TargetMode="External"/><Relationship Id="rId2" Type="http://schemas.microsoft.com/office/2011/relationships/chartColorStyle" Target="colors17.xml"/><Relationship Id="rId1" Type="http://schemas.microsoft.com/office/2011/relationships/chartStyle" Target="style17.xm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oleObject" Target="file:///F:\&#1054;&#1073;&#1091;&#1095;&#1077;&#1085;&#1080;&#1077;%202025\&#1047;&#1072;&#1085;&#1103;&#1090;&#1080;&#1103;\&#1050;&#1091;&#1088;&#1089;&#1086;&#1074;&#1072;&#1103;%20&#1088;&#1072;&#1073;&#1086;&#1090;&#1072;\&#1050;&#1091;&#1088;&#1089;&#1086;&#1074;&#1072;&#1103;%20&#1088;&#1072;&#1073;&#1086;&#1090;&#1072;%20&#8470;1\Transaction_list2.xlsx" TargetMode="External"/><Relationship Id="rId2" Type="http://schemas.microsoft.com/office/2011/relationships/chartColorStyle" Target="colors18.xml"/><Relationship Id="rId1" Type="http://schemas.microsoft.com/office/2011/relationships/chartStyle" Target="style18.xml"/></Relationships>
</file>

<file path=ppt/charts/_rels/chart19.xml.rels><?xml version="1.0" encoding="UTF-8" standalone="yes"?>
<Relationships xmlns="http://schemas.openxmlformats.org/package/2006/relationships"><Relationship Id="rId3" Type="http://schemas.openxmlformats.org/officeDocument/2006/relationships/oleObject" Target="file:///F:\&#1054;&#1073;&#1091;&#1095;&#1077;&#1085;&#1080;&#1077;%202025\&#1047;&#1072;&#1085;&#1103;&#1090;&#1080;&#1103;\&#1050;&#1091;&#1088;&#1089;&#1086;&#1074;&#1072;&#1103;%20&#1088;&#1072;&#1073;&#1086;&#1090;&#1072;\&#1050;&#1091;&#1088;&#1089;&#1086;&#1074;&#1072;&#1103;%20&#1088;&#1072;&#1073;&#1086;&#1090;&#1072;%20&#8470;1\Transaction_list2.xlsx" TargetMode="External"/><Relationship Id="rId2" Type="http://schemas.microsoft.com/office/2011/relationships/chartColorStyle" Target="colors19.xml"/><Relationship Id="rId1" Type="http://schemas.microsoft.com/office/2011/relationships/chartStyle" Target="style19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[Transaction_list.xlsx]Задание 1!Сводная таблица19</c:name>
    <c:fmtId val="6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ln>
                  <a:noFill/>
                </a:ln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ru-RU"/>
              <a:t>Количество  транзакций </a:t>
            </a:r>
            <a:r>
              <a:rPr lang="ru-RU" baseline="0"/>
              <a:t> </a:t>
            </a:r>
            <a:endParaRPr lang="ru-RU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ln>
                <a:noFill/>
              </a:ln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ln>
                    <a:noFill/>
                  </a:ln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ln>
                    <a:noFill/>
                  </a:ln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ln>
                    <a:noFill/>
                  </a:ln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ln>
                    <a:noFill/>
                  </a:ln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ln>
                    <a:noFill/>
                  </a:ln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ln>
                    <a:noFill/>
                  </a:ln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ln>
                    <a:noFill/>
                  </a:ln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ln>
                    <a:noFill/>
                  </a:ln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ln>
                    <a:noFill/>
                  </a:ln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ln>
                    <a:noFill/>
                  </a:ln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ln>
                    <a:noFill/>
                  </a:ln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ln>
                    <a:noFill/>
                  </a:ln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ln>
                    <a:noFill/>
                  </a:ln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ln>
                    <a:noFill/>
                  </a:ln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ln>
                    <a:noFill/>
                  </a:ln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ln>
                    <a:noFill/>
                  </a:ln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ln>
                    <a:noFill/>
                  </a:ln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ln>
                    <a:noFill/>
                  </a:ln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'Задание 1'!$B$3:$B$4</c:f>
              <c:strCache>
                <c:ptCount val="1"/>
                <c:pt idx="0">
                  <c:v>Ленинский пр-т, 162/1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'Задание 1'!$A$5:$A$9</c:f>
              <c:strCache>
                <c:ptCount val="4"/>
                <c:pt idx="0">
                  <c:v>01.сен</c:v>
                </c:pt>
                <c:pt idx="1">
                  <c:v>02.сен</c:v>
                </c:pt>
                <c:pt idx="2">
                  <c:v>03.сен</c:v>
                </c:pt>
                <c:pt idx="3">
                  <c:v>04.сен</c:v>
                </c:pt>
              </c:strCache>
            </c:strRef>
          </c:cat>
          <c:val>
            <c:numRef>
              <c:f>'Задание 1'!$B$5:$B$9</c:f>
              <c:numCache>
                <c:formatCode>General</c:formatCode>
                <c:ptCount val="4"/>
                <c:pt idx="0">
                  <c:v>2775</c:v>
                </c:pt>
                <c:pt idx="1">
                  <c:v>2798</c:v>
                </c:pt>
                <c:pt idx="2">
                  <c:v>2615</c:v>
                </c:pt>
                <c:pt idx="3">
                  <c:v>2655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178-4AE9-B86A-E7C1A4CCE0D5}"/>
            </c:ext>
          </c:extLst>
        </c:ser>
        <c:ser>
          <c:idx val="1"/>
          <c:order val="1"/>
          <c:tx>
            <c:strRef>
              <c:f>'Задание 1'!$C$3:$C$4</c:f>
              <c:strCache>
                <c:ptCount val="1"/>
                <c:pt idx="0">
                  <c:v>пр-т Вернадского, 88к3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'Задание 1'!$A$5:$A$9</c:f>
              <c:strCache>
                <c:ptCount val="4"/>
                <c:pt idx="0">
                  <c:v>01.сен</c:v>
                </c:pt>
                <c:pt idx="1">
                  <c:v>02.сен</c:v>
                </c:pt>
                <c:pt idx="2">
                  <c:v>03.сен</c:v>
                </c:pt>
                <c:pt idx="3">
                  <c:v>04.сен</c:v>
                </c:pt>
              </c:strCache>
            </c:strRef>
          </c:cat>
          <c:val>
            <c:numRef>
              <c:f>'Задание 1'!$C$5:$C$9</c:f>
              <c:numCache>
                <c:formatCode>General</c:formatCode>
                <c:ptCount val="4"/>
                <c:pt idx="0">
                  <c:v>1692</c:v>
                </c:pt>
                <c:pt idx="1">
                  <c:v>1687</c:v>
                </c:pt>
                <c:pt idx="2">
                  <c:v>1657</c:v>
                </c:pt>
                <c:pt idx="3">
                  <c:v>1593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178-4AE9-B86A-E7C1A4CCE0D5}"/>
            </c:ext>
          </c:extLst>
        </c:ser>
        <c:ser>
          <c:idx val="2"/>
          <c:order val="2"/>
          <c:tx>
            <c:strRef>
              <c:f>'Задание 1'!$D$3:$D$4</c:f>
              <c:strCache>
                <c:ptCount val="1"/>
                <c:pt idx="0">
                  <c:v>Ракетный б-р, 14к1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'Задание 1'!$A$5:$A$9</c:f>
              <c:strCache>
                <c:ptCount val="4"/>
                <c:pt idx="0">
                  <c:v>01.сен</c:v>
                </c:pt>
                <c:pt idx="1">
                  <c:v>02.сен</c:v>
                </c:pt>
                <c:pt idx="2">
                  <c:v>03.сен</c:v>
                </c:pt>
                <c:pt idx="3">
                  <c:v>04.сен</c:v>
                </c:pt>
              </c:strCache>
            </c:strRef>
          </c:cat>
          <c:val>
            <c:numRef>
              <c:f>'Задание 1'!$D$5:$D$9</c:f>
              <c:numCache>
                <c:formatCode>General</c:formatCode>
                <c:ptCount val="4"/>
                <c:pt idx="0">
                  <c:v>1408</c:v>
                </c:pt>
                <c:pt idx="1">
                  <c:v>1482</c:v>
                </c:pt>
                <c:pt idx="2">
                  <c:v>1388</c:v>
                </c:pt>
                <c:pt idx="3">
                  <c:v>1326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178-4AE9-B86A-E7C1A4CCE0D5}"/>
            </c:ext>
          </c:extLst>
        </c:ser>
        <c:ser>
          <c:idx val="3"/>
          <c:order val="3"/>
          <c:tx>
            <c:strRef>
              <c:f>'Задание 1'!$E$3:$E$4</c:f>
              <c:strCache>
                <c:ptCount val="1"/>
                <c:pt idx="0">
                  <c:v>Симферопольский б-р, 22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'Задание 1'!$A$5:$A$9</c:f>
              <c:strCache>
                <c:ptCount val="4"/>
                <c:pt idx="0">
                  <c:v>01.сен</c:v>
                </c:pt>
                <c:pt idx="1">
                  <c:v>02.сен</c:v>
                </c:pt>
                <c:pt idx="2">
                  <c:v>03.сен</c:v>
                </c:pt>
                <c:pt idx="3">
                  <c:v>04.сен</c:v>
                </c:pt>
              </c:strCache>
            </c:strRef>
          </c:cat>
          <c:val>
            <c:numRef>
              <c:f>'Задание 1'!$E$5:$E$9</c:f>
              <c:numCache>
                <c:formatCode>General</c:formatCode>
                <c:ptCount val="4"/>
                <c:pt idx="0">
                  <c:v>855</c:v>
                </c:pt>
                <c:pt idx="1">
                  <c:v>910</c:v>
                </c:pt>
                <c:pt idx="2">
                  <c:v>227</c:v>
                </c:pt>
                <c:pt idx="3">
                  <c:v>293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5178-4AE9-B86A-E7C1A4CCE0D5}"/>
            </c:ext>
          </c:extLst>
        </c:ser>
        <c:ser>
          <c:idx val="4"/>
          <c:order val="4"/>
          <c:tx>
            <c:strRef>
              <c:f>'Задание 1'!$F$3:$F$4</c:f>
              <c:strCache>
                <c:ptCount val="1"/>
                <c:pt idx="0">
                  <c:v>ул. Чертановская,  20к2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'Задание 1'!$A$5:$A$9</c:f>
              <c:strCache>
                <c:ptCount val="4"/>
                <c:pt idx="0">
                  <c:v>01.сен</c:v>
                </c:pt>
                <c:pt idx="1">
                  <c:v>02.сен</c:v>
                </c:pt>
                <c:pt idx="2">
                  <c:v>03.сен</c:v>
                </c:pt>
                <c:pt idx="3">
                  <c:v>04.сен</c:v>
                </c:pt>
              </c:strCache>
            </c:strRef>
          </c:cat>
          <c:val>
            <c:numRef>
              <c:f>'Задание 1'!$F$5:$F$9</c:f>
              <c:numCache>
                <c:formatCode>General</c:formatCode>
                <c:ptCount val="4"/>
                <c:pt idx="2">
                  <c:v>1823</c:v>
                </c:pt>
                <c:pt idx="3">
                  <c:v>3172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178-4AE9-B86A-E7C1A4CCE0D5}"/>
            </c:ext>
          </c:extLst>
        </c:ser>
        <c:ser>
          <c:idx val="5"/>
          <c:order val="5"/>
          <c:tx>
            <c:strRef>
              <c:f>'Задание 1'!$G$3:$G$4</c:f>
              <c:strCache>
                <c:ptCount val="1"/>
                <c:pt idx="0">
                  <c:v>ул. Щорса, 26/3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'Задание 1'!$A$5:$A$9</c:f>
              <c:strCache>
                <c:ptCount val="4"/>
                <c:pt idx="0">
                  <c:v>01.сен</c:v>
                </c:pt>
                <c:pt idx="1">
                  <c:v>02.сен</c:v>
                </c:pt>
                <c:pt idx="2">
                  <c:v>03.сен</c:v>
                </c:pt>
                <c:pt idx="3">
                  <c:v>04.сен</c:v>
                </c:pt>
              </c:strCache>
            </c:strRef>
          </c:cat>
          <c:val>
            <c:numRef>
              <c:f>'Задание 1'!$G$5:$G$9</c:f>
              <c:numCache>
                <c:formatCode>General</c:formatCode>
                <c:ptCount val="4"/>
                <c:pt idx="0">
                  <c:v>1119</c:v>
                </c:pt>
                <c:pt idx="1">
                  <c:v>1070</c:v>
                </c:pt>
                <c:pt idx="2">
                  <c:v>1079</c:v>
                </c:pt>
                <c:pt idx="3">
                  <c:v>1036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5178-4AE9-B86A-E7C1A4CCE0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1634805391"/>
        <c:axId val="1634826991"/>
      </c:barChart>
      <c:catAx>
        <c:axId val="1634805391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ln>
                      <a:noFill/>
                    </a:ln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Дата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ln>
                    <a:noFill/>
                  </a:ln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ln>
                  <a:noFill/>
                </a:ln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634826991"/>
        <c:crosses val="autoZero"/>
        <c:auto val="1"/>
        <c:lblAlgn val="ctr"/>
        <c:lblOffset val="100"/>
        <c:noMultiLvlLbl val="0"/>
      </c:catAx>
      <c:valAx>
        <c:axId val="16348269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ln>
                      <a:noFill/>
                    </a:ln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Количество,шт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ln>
                    <a:noFill/>
                  </a:ln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0"/>
        <c:majorTickMark val="none"/>
        <c:minorTickMark val="none"/>
        <c:tickLblPos val="nextTo"/>
        <c:spPr>
          <a:noFill/>
          <a:ln>
            <a:solidFill>
              <a:schemeClr val="accent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ln>
                  <a:noFill/>
                </a:ln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63480539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ln>
                <a:noFill/>
              </a:ln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n>
            <a:noFill/>
          </a:ln>
          <a:solidFill>
            <a:schemeClr val="tx1"/>
          </a:solidFill>
        </a:defRPr>
      </a:pPr>
      <a:endParaRPr lang="ru-RU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[Transaction_list.xlsx]Задание 1!Сводная таблица19</c:name>
    <c:fmtId val="-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/>
              <a:t>Доли транзакций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'Задание 1'!$B$3:$B$4</c:f>
              <c:strCache>
                <c:ptCount val="1"/>
                <c:pt idx="0">
                  <c:v>Ленинский пр-т, 162/1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'Задание 1'!$A$5:$A$9</c:f>
              <c:strCache>
                <c:ptCount val="4"/>
                <c:pt idx="0">
                  <c:v>01.сен</c:v>
                </c:pt>
                <c:pt idx="1">
                  <c:v>02.сен</c:v>
                </c:pt>
                <c:pt idx="2">
                  <c:v>03.сен</c:v>
                </c:pt>
                <c:pt idx="3">
                  <c:v>04.сен</c:v>
                </c:pt>
              </c:strCache>
            </c:strRef>
          </c:cat>
          <c:val>
            <c:numRef>
              <c:f>'Задание 1'!$B$5:$B$9</c:f>
              <c:numCache>
                <c:formatCode>General</c:formatCode>
                <c:ptCount val="4"/>
                <c:pt idx="0">
                  <c:v>2775</c:v>
                </c:pt>
                <c:pt idx="1">
                  <c:v>2798</c:v>
                </c:pt>
                <c:pt idx="2">
                  <c:v>2615</c:v>
                </c:pt>
                <c:pt idx="3">
                  <c:v>2655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8DC-4F2D-9166-504699B5E34D}"/>
            </c:ext>
          </c:extLst>
        </c:ser>
        <c:ser>
          <c:idx val="1"/>
          <c:order val="1"/>
          <c:tx>
            <c:strRef>
              <c:f>'Задание 1'!$C$3:$C$4</c:f>
              <c:strCache>
                <c:ptCount val="1"/>
                <c:pt idx="0">
                  <c:v>пр-т Вернадского, 88к3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'Задание 1'!$A$5:$A$9</c:f>
              <c:strCache>
                <c:ptCount val="4"/>
                <c:pt idx="0">
                  <c:v>01.сен</c:v>
                </c:pt>
                <c:pt idx="1">
                  <c:v>02.сен</c:v>
                </c:pt>
                <c:pt idx="2">
                  <c:v>03.сен</c:v>
                </c:pt>
                <c:pt idx="3">
                  <c:v>04.сен</c:v>
                </c:pt>
              </c:strCache>
            </c:strRef>
          </c:cat>
          <c:val>
            <c:numRef>
              <c:f>'Задание 1'!$C$5:$C$9</c:f>
              <c:numCache>
                <c:formatCode>General</c:formatCode>
                <c:ptCount val="4"/>
                <c:pt idx="0">
                  <c:v>1692</c:v>
                </c:pt>
                <c:pt idx="1">
                  <c:v>1687</c:v>
                </c:pt>
                <c:pt idx="2">
                  <c:v>1657</c:v>
                </c:pt>
                <c:pt idx="3">
                  <c:v>1593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8DC-4F2D-9166-504699B5E34D}"/>
            </c:ext>
          </c:extLst>
        </c:ser>
        <c:ser>
          <c:idx val="2"/>
          <c:order val="2"/>
          <c:tx>
            <c:strRef>
              <c:f>'Задание 1'!$D$3:$D$4</c:f>
              <c:strCache>
                <c:ptCount val="1"/>
                <c:pt idx="0">
                  <c:v>Ракетный б-р, 14к1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'Задание 1'!$A$5:$A$9</c:f>
              <c:strCache>
                <c:ptCount val="4"/>
                <c:pt idx="0">
                  <c:v>01.сен</c:v>
                </c:pt>
                <c:pt idx="1">
                  <c:v>02.сен</c:v>
                </c:pt>
                <c:pt idx="2">
                  <c:v>03.сен</c:v>
                </c:pt>
                <c:pt idx="3">
                  <c:v>04.сен</c:v>
                </c:pt>
              </c:strCache>
            </c:strRef>
          </c:cat>
          <c:val>
            <c:numRef>
              <c:f>'Задание 1'!$D$5:$D$9</c:f>
              <c:numCache>
                <c:formatCode>General</c:formatCode>
                <c:ptCount val="4"/>
                <c:pt idx="0">
                  <c:v>1408</c:v>
                </c:pt>
                <c:pt idx="1">
                  <c:v>1482</c:v>
                </c:pt>
                <c:pt idx="2">
                  <c:v>1388</c:v>
                </c:pt>
                <c:pt idx="3">
                  <c:v>1326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8DC-4F2D-9166-504699B5E34D}"/>
            </c:ext>
          </c:extLst>
        </c:ser>
        <c:ser>
          <c:idx val="3"/>
          <c:order val="3"/>
          <c:tx>
            <c:strRef>
              <c:f>'Задание 1'!$E$3:$E$4</c:f>
              <c:strCache>
                <c:ptCount val="1"/>
                <c:pt idx="0">
                  <c:v>Симферопольский б-р, 22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'Задание 1'!$A$5:$A$9</c:f>
              <c:strCache>
                <c:ptCount val="4"/>
                <c:pt idx="0">
                  <c:v>01.сен</c:v>
                </c:pt>
                <c:pt idx="1">
                  <c:v>02.сен</c:v>
                </c:pt>
                <c:pt idx="2">
                  <c:v>03.сен</c:v>
                </c:pt>
                <c:pt idx="3">
                  <c:v>04.сен</c:v>
                </c:pt>
              </c:strCache>
            </c:strRef>
          </c:cat>
          <c:val>
            <c:numRef>
              <c:f>'Задание 1'!$E$5:$E$9</c:f>
              <c:numCache>
                <c:formatCode>General</c:formatCode>
                <c:ptCount val="4"/>
                <c:pt idx="0">
                  <c:v>855</c:v>
                </c:pt>
                <c:pt idx="1">
                  <c:v>910</c:v>
                </c:pt>
                <c:pt idx="2">
                  <c:v>227</c:v>
                </c:pt>
                <c:pt idx="3">
                  <c:v>293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8DC-4F2D-9166-504699B5E34D}"/>
            </c:ext>
          </c:extLst>
        </c:ser>
        <c:ser>
          <c:idx val="4"/>
          <c:order val="4"/>
          <c:tx>
            <c:strRef>
              <c:f>'Задание 1'!$F$3:$F$4</c:f>
              <c:strCache>
                <c:ptCount val="1"/>
                <c:pt idx="0">
                  <c:v>ул. Чертановская,  20к2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'Задание 1'!$A$5:$A$9</c:f>
              <c:strCache>
                <c:ptCount val="4"/>
                <c:pt idx="0">
                  <c:v>01.сен</c:v>
                </c:pt>
                <c:pt idx="1">
                  <c:v>02.сен</c:v>
                </c:pt>
                <c:pt idx="2">
                  <c:v>03.сен</c:v>
                </c:pt>
                <c:pt idx="3">
                  <c:v>04.сен</c:v>
                </c:pt>
              </c:strCache>
            </c:strRef>
          </c:cat>
          <c:val>
            <c:numRef>
              <c:f>'Задание 1'!$F$5:$F$9</c:f>
              <c:numCache>
                <c:formatCode>General</c:formatCode>
                <c:ptCount val="4"/>
                <c:pt idx="2">
                  <c:v>1823</c:v>
                </c:pt>
                <c:pt idx="3">
                  <c:v>3172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8DC-4F2D-9166-504699B5E34D}"/>
            </c:ext>
          </c:extLst>
        </c:ser>
        <c:ser>
          <c:idx val="5"/>
          <c:order val="5"/>
          <c:tx>
            <c:strRef>
              <c:f>'Задание 1'!$G$3:$G$4</c:f>
              <c:strCache>
                <c:ptCount val="1"/>
                <c:pt idx="0">
                  <c:v>ул. Щорса, 26/3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'Задание 1'!$A$5:$A$9</c:f>
              <c:strCache>
                <c:ptCount val="4"/>
                <c:pt idx="0">
                  <c:v>01.сен</c:v>
                </c:pt>
                <c:pt idx="1">
                  <c:v>02.сен</c:v>
                </c:pt>
                <c:pt idx="2">
                  <c:v>03.сен</c:v>
                </c:pt>
                <c:pt idx="3">
                  <c:v>04.сен</c:v>
                </c:pt>
              </c:strCache>
            </c:strRef>
          </c:cat>
          <c:val>
            <c:numRef>
              <c:f>'Задание 1'!$G$5:$G$9</c:f>
              <c:numCache>
                <c:formatCode>General</c:formatCode>
                <c:ptCount val="4"/>
                <c:pt idx="0">
                  <c:v>1119</c:v>
                </c:pt>
                <c:pt idx="1">
                  <c:v>1070</c:v>
                </c:pt>
                <c:pt idx="2">
                  <c:v>1079</c:v>
                </c:pt>
                <c:pt idx="3">
                  <c:v>1036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38DC-4F2D-9166-504699B5E34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270635135"/>
        <c:axId val="1270635615"/>
      </c:barChart>
      <c:catAx>
        <c:axId val="1270635135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Дата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270635615"/>
        <c:crosses val="autoZero"/>
        <c:auto val="1"/>
        <c:lblAlgn val="ctr"/>
        <c:lblOffset val="100"/>
        <c:noMultiLvlLbl val="0"/>
      </c:catAx>
      <c:valAx>
        <c:axId val="127063561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Доля, %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27063513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[Transaction_list.xlsx]Задание 2!Сводная таблица22</c:name>
    <c:fmtId val="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/>
              <a:t>Количество</a:t>
            </a:r>
            <a:r>
              <a:rPr lang="ru-RU" baseline="0"/>
              <a:t> транзакций по серверам</a:t>
            </a:r>
            <a:endParaRPr lang="ru-RU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'Задание 2'!$B$3:$B$4</c:f>
              <c:strCache>
                <c:ptCount val="1"/>
                <c:pt idx="0">
                  <c:v>сервер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'Задание 2'!$A$5:$A$9</c:f>
              <c:strCache>
                <c:ptCount val="4"/>
                <c:pt idx="0">
                  <c:v>01.сен</c:v>
                </c:pt>
                <c:pt idx="1">
                  <c:v>02.сен</c:v>
                </c:pt>
                <c:pt idx="2">
                  <c:v>03.сен</c:v>
                </c:pt>
                <c:pt idx="3">
                  <c:v>04.сен</c:v>
                </c:pt>
              </c:strCache>
            </c:strRef>
          </c:cat>
          <c:val>
            <c:numRef>
              <c:f>'Задание 2'!$B$5:$B$9</c:f>
              <c:numCache>
                <c:formatCode>General</c:formatCode>
                <c:ptCount val="4"/>
                <c:pt idx="0">
                  <c:v>1974</c:v>
                </c:pt>
                <c:pt idx="1">
                  <c:v>1980</c:v>
                </c:pt>
                <c:pt idx="2">
                  <c:v>1306</c:v>
                </c:pt>
                <c:pt idx="3">
                  <c:v>1329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6B9-4863-8F30-1FDAD6CA73B2}"/>
            </c:ext>
          </c:extLst>
        </c:ser>
        <c:ser>
          <c:idx val="1"/>
          <c:order val="1"/>
          <c:tx>
            <c:strRef>
              <c:f>'Задание 2'!$C$3:$C$4</c:f>
              <c:strCache>
                <c:ptCount val="1"/>
                <c:pt idx="0">
                  <c:v>сервер 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'Задание 2'!$A$5:$A$9</c:f>
              <c:strCache>
                <c:ptCount val="4"/>
                <c:pt idx="0">
                  <c:v>01.сен</c:v>
                </c:pt>
                <c:pt idx="1">
                  <c:v>02.сен</c:v>
                </c:pt>
                <c:pt idx="2">
                  <c:v>03.сен</c:v>
                </c:pt>
                <c:pt idx="3">
                  <c:v>04.сен</c:v>
                </c:pt>
              </c:strCache>
            </c:strRef>
          </c:cat>
          <c:val>
            <c:numRef>
              <c:f>'Задание 2'!$C$5:$C$9</c:f>
              <c:numCache>
                <c:formatCode>General</c:formatCode>
                <c:ptCount val="4"/>
                <c:pt idx="0">
                  <c:v>4467</c:v>
                </c:pt>
                <c:pt idx="1">
                  <c:v>4485</c:v>
                </c:pt>
                <c:pt idx="2">
                  <c:v>4272</c:v>
                </c:pt>
                <c:pt idx="3">
                  <c:v>4248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6B9-4863-8F30-1FDAD6CA73B2}"/>
            </c:ext>
          </c:extLst>
        </c:ser>
        <c:ser>
          <c:idx val="2"/>
          <c:order val="2"/>
          <c:tx>
            <c:strRef>
              <c:f>'Задание 2'!$D$3:$D$4</c:f>
              <c:strCache>
                <c:ptCount val="1"/>
                <c:pt idx="0">
                  <c:v>сервер 3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'Задание 2'!$A$5:$A$9</c:f>
              <c:strCache>
                <c:ptCount val="4"/>
                <c:pt idx="0">
                  <c:v>01.сен</c:v>
                </c:pt>
                <c:pt idx="1">
                  <c:v>02.сен</c:v>
                </c:pt>
                <c:pt idx="2">
                  <c:v>03.сен</c:v>
                </c:pt>
                <c:pt idx="3">
                  <c:v>04.сен</c:v>
                </c:pt>
              </c:strCache>
            </c:strRef>
          </c:cat>
          <c:val>
            <c:numRef>
              <c:f>'Задание 2'!$D$5:$D$9</c:f>
              <c:numCache>
                <c:formatCode>General</c:formatCode>
                <c:ptCount val="4"/>
                <c:pt idx="0">
                  <c:v>1408</c:v>
                </c:pt>
                <c:pt idx="1">
                  <c:v>1482</c:v>
                </c:pt>
                <c:pt idx="2">
                  <c:v>3211</c:v>
                </c:pt>
                <c:pt idx="3">
                  <c:v>4498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76B9-4863-8F30-1FDAD6CA73B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270646175"/>
        <c:axId val="1270629375"/>
      </c:lineChart>
      <c:catAx>
        <c:axId val="1270646175"/>
        <c:scaling>
          <c:orientation val="minMax"/>
        </c:scaling>
        <c:delete val="0"/>
        <c:axPos val="b"/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Дата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270629375"/>
        <c:crosses val="autoZero"/>
        <c:auto val="1"/>
        <c:lblAlgn val="ctr"/>
        <c:lblOffset val="100"/>
        <c:noMultiLvlLbl val="0"/>
      </c:catAx>
      <c:valAx>
        <c:axId val="127062937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Количество, шт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27064617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[Transaction_list.xlsx]Задание 2!Сводная таблица25</c:name>
    <c:fmtId val="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sz="1400" b="0" i="0" u="none" strike="noStrike" kern="1200" spc="0" baseline="0" dirty="0">
                <a:solidFill>
                  <a:srgbClr val="000000">
                    <a:lumMod val="65000"/>
                    <a:lumOff val="35000"/>
                  </a:srgbClr>
                </a:solidFill>
              </a:rPr>
              <a:t>Количество транзакций по серверам после изменения привязки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'Задание 2'!$M$3:$M$4</c:f>
              <c:strCache>
                <c:ptCount val="1"/>
                <c:pt idx="0">
                  <c:v>сервер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'Задание 2'!$L$5:$L$9</c:f>
              <c:strCache>
                <c:ptCount val="4"/>
                <c:pt idx="0">
                  <c:v>01.сен</c:v>
                </c:pt>
                <c:pt idx="1">
                  <c:v>02.сен</c:v>
                </c:pt>
                <c:pt idx="2">
                  <c:v>03.сен</c:v>
                </c:pt>
                <c:pt idx="3">
                  <c:v>04.сен</c:v>
                </c:pt>
              </c:strCache>
            </c:strRef>
          </c:cat>
          <c:val>
            <c:numRef>
              <c:f>'Задание 2'!$M$5:$M$9</c:f>
              <c:numCache>
                <c:formatCode>General</c:formatCode>
                <c:ptCount val="4"/>
                <c:pt idx="0">
                  <c:v>1974</c:v>
                </c:pt>
                <c:pt idx="1">
                  <c:v>1980</c:v>
                </c:pt>
                <c:pt idx="2">
                  <c:v>2694</c:v>
                </c:pt>
                <c:pt idx="3">
                  <c:v>2655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A52-4DFD-B7FD-5D1460F10573}"/>
            </c:ext>
          </c:extLst>
        </c:ser>
        <c:ser>
          <c:idx val="1"/>
          <c:order val="1"/>
          <c:tx>
            <c:strRef>
              <c:f>'Задание 2'!$N$3:$N$4</c:f>
              <c:strCache>
                <c:ptCount val="1"/>
                <c:pt idx="0">
                  <c:v>сервер 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'Задание 2'!$L$5:$L$9</c:f>
              <c:strCache>
                <c:ptCount val="4"/>
                <c:pt idx="0">
                  <c:v>01.сен</c:v>
                </c:pt>
                <c:pt idx="1">
                  <c:v>02.сен</c:v>
                </c:pt>
                <c:pt idx="2">
                  <c:v>03.сен</c:v>
                </c:pt>
                <c:pt idx="3">
                  <c:v>04.сен</c:v>
                </c:pt>
              </c:strCache>
            </c:strRef>
          </c:cat>
          <c:val>
            <c:numRef>
              <c:f>'Задание 2'!$N$5:$N$9</c:f>
              <c:numCache>
                <c:formatCode>General</c:formatCode>
                <c:ptCount val="4"/>
                <c:pt idx="0">
                  <c:v>4467</c:v>
                </c:pt>
                <c:pt idx="1">
                  <c:v>4485</c:v>
                </c:pt>
                <c:pt idx="2">
                  <c:v>4272</c:v>
                </c:pt>
                <c:pt idx="3">
                  <c:v>4248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A52-4DFD-B7FD-5D1460F10573}"/>
            </c:ext>
          </c:extLst>
        </c:ser>
        <c:ser>
          <c:idx val="2"/>
          <c:order val="2"/>
          <c:tx>
            <c:strRef>
              <c:f>'Задание 2'!$O$3:$O$4</c:f>
              <c:strCache>
                <c:ptCount val="1"/>
                <c:pt idx="0">
                  <c:v>сервер 3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'Задание 2'!$L$5:$L$9</c:f>
              <c:strCache>
                <c:ptCount val="4"/>
                <c:pt idx="0">
                  <c:v>01.сен</c:v>
                </c:pt>
                <c:pt idx="1">
                  <c:v>02.сен</c:v>
                </c:pt>
                <c:pt idx="2">
                  <c:v>03.сен</c:v>
                </c:pt>
                <c:pt idx="3">
                  <c:v>04.сен</c:v>
                </c:pt>
              </c:strCache>
            </c:strRef>
          </c:cat>
          <c:val>
            <c:numRef>
              <c:f>'Задание 2'!$O$5:$O$9</c:f>
              <c:numCache>
                <c:formatCode>General</c:formatCode>
                <c:ptCount val="4"/>
                <c:pt idx="0">
                  <c:v>1408</c:v>
                </c:pt>
                <c:pt idx="1">
                  <c:v>1482</c:v>
                </c:pt>
                <c:pt idx="2">
                  <c:v>1823</c:v>
                </c:pt>
                <c:pt idx="3">
                  <c:v>3172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A52-4DFD-B7FD-5D1460F1057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67571807"/>
        <c:axId val="1067547327"/>
      </c:lineChart>
      <c:catAx>
        <c:axId val="1067571807"/>
        <c:scaling>
          <c:orientation val="minMax"/>
        </c:scaling>
        <c:delete val="0"/>
        <c:axPos val="b"/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Дата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067547327"/>
        <c:crosses val="autoZero"/>
        <c:auto val="1"/>
        <c:lblAlgn val="ctr"/>
        <c:lblOffset val="100"/>
        <c:noMultiLvlLbl val="0"/>
      </c:catAx>
      <c:valAx>
        <c:axId val="106754732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000" b="0" i="0" u="none" strike="noStrike" kern="1200" baseline="0">
                    <a:solidFill>
                      <a:srgbClr val="000000">
                        <a:lumMod val="65000"/>
                        <a:lumOff val="35000"/>
                      </a:srgbClr>
                    </a:solidFill>
                  </a:rPr>
                  <a:t>Количество, шт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06757180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/>
              <a:t>Коэффицент роста нагрузки на серверы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'Задание 2'!$H$4</c:f>
              <c:strCache>
                <c:ptCount val="1"/>
                <c:pt idx="0">
                  <c:v>сервер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'Задание 2'!$G$5:$G$8</c:f>
              <c:strCache>
                <c:ptCount val="4"/>
                <c:pt idx="1">
                  <c:v>02.сен</c:v>
                </c:pt>
                <c:pt idx="2">
                  <c:v>03.сен</c:v>
                </c:pt>
                <c:pt idx="3">
                  <c:v>04.сен</c:v>
                </c:pt>
              </c:strCache>
            </c:strRef>
          </c:cat>
          <c:val>
            <c:numRef>
              <c:f>'Задание 2'!$H$5:$H$8</c:f>
              <c:numCache>
                <c:formatCode>0%</c:formatCode>
                <c:ptCount val="4"/>
                <c:pt idx="1">
                  <c:v>1.0030395136778116</c:v>
                </c:pt>
                <c:pt idx="2">
                  <c:v>0.65959595959595962</c:v>
                </c:pt>
                <c:pt idx="3">
                  <c:v>1.0176110260336906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330-46C5-BBEA-8920E4987A6E}"/>
            </c:ext>
          </c:extLst>
        </c:ser>
        <c:ser>
          <c:idx val="1"/>
          <c:order val="1"/>
          <c:tx>
            <c:strRef>
              <c:f>'Задание 2'!$I$4</c:f>
              <c:strCache>
                <c:ptCount val="1"/>
                <c:pt idx="0">
                  <c:v>сервер 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'Задание 2'!$G$5:$G$8</c:f>
              <c:strCache>
                <c:ptCount val="4"/>
                <c:pt idx="1">
                  <c:v>02.сен</c:v>
                </c:pt>
                <c:pt idx="2">
                  <c:v>03.сен</c:v>
                </c:pt>
                <c:pt idx="3">
                  <c:v>04.сен</c:v>
                </c:pt>
              </c:strCache>
            </c:strRef>
          </c:cat>
          <c:val>
            <c:numRef>
              <c:f>'Задание 2'!$I$5:$I$8</c:f>
              <c:numCache>
                <c:formatCode>0%</c:formatCode>
                <c:ptCount val="4"/>
                <c:pt idx="1">
                  <c:v>1.0040295500335796</c:v>
                </c:pt>
                <c:pt idx="2">
                  <c:v>0.95250836120401339</c:v>
                </c:pt>
                <c:pt idx="3">
                  <c:v>0.9943820224719101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330-46C5-BBEA-8920E4987A6E}"/>
            </c:ext>
          </c:extLst>
        </c:ser>
        <c:ser>
          <c:idx val="2"/>
          <c:order val="2"/>
          <c:tx>
            <c:strRef>
              <c:f>'Задание 2'!$J$4</c:f>
              <c:strCache>
                <c:ptCount val="1"/>
                <c:pt idx="0">
                  <c:v>сервер 3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'Задание 2'!$G$5:$G$8</c:f>
              <c:strCache>
                <c:ptCount val="4"/>
                <c:pt idx="1">
                  <c:v>02.сен</c:v>
                </c:pt>
                <c:pt idx="2">
                  <c:v>03.сен</c:v>
                </c:pt>
                <c:pt idx="3">
                  <c:v>04.сен</c:v>
                </c:pt>
              </c:strCache>
            </c:strRef>
          </c:cat>
          <c:val>
            <c:numRef>
              <c:f>'Задание 2'!$J$5:$J$8</c:f>
              <c:numCache>
                <c:formatCode>0%</c:formatCode>
                <c:ptCount val="4"/>
                <c:pt idx="1">
                  <c:v>1.0525568181818181</c:v>
                </c:pt>
                <c:pt idx="2">
                  <c:v>2.1666666666666665</c:v>
                </c:pt>
                <c:pt idx="3">
                  <c:v>1.4008097165991902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8330-46C5-BBEA-8920E4987A6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67565087"/>
        <c:axId val="1067573247"/>
      </c:lineChart>
      <c:catAx>
        <c:axId val="1067565087"/>
        <c:scaling>
          <c:orientation val="minMax"/>
        </c:scaling>
        <c:delete val="0"/>
        <c:axPos val="b"/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Дата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067573247"/>
        <c:crosses val="autoZero"/>
        <c:auto val="1"/>
        <c:lblAlgn val="ctr"/>
        <c:lblOffset val="100"/>
        <c:noMultiLvlLbl val="0"/>
      </c:catAx>
      <c:valAx>
        <c:axId val="106757324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Коэффициент роста, %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0.0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06756508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sz="1400" b="0" i="0" u="none" strike="noStrike" kern="1200" spc="0" baseline="0">
                <a:solidFill>
                  <a:srgbClr val="000000">
                    <a:lumMod val="65000"/>
                    <a:lumOff val="35000"/>
                  </a:srgbClr>
                </a:solidFill>
              </a:rPr>
              <a:t>Коэффицент роста нагрузки на серверы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'Задание 2'!$S$4</c:f>
              <c:strCache>
                <c:ptCount val="1"/>
                <c:pt idx="0">
                  <c:v>сервер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'Задание 2'!$R$5:$R$8</c:f>
              <c:strCache>
                <c:ptCount val="4"/>
                <c:pt idx="1">
                  <c:v>02.сен</c:v>
                </c:pt>
                <c:pt idx="2">
                  <c:v>03.сен</c:v>
                </c:pt>
                <c:pt idx="3">
                  <c:v>04.сен</c:v>
                </c:pt>
              </c:strCache>
            </c:strRef>
          </c:cat>
          <c:val>
            <c:numRef>
              <c:f>'Задание 2'!$S$5:$S$8</c:f>
              <c:numCache>
                <c:formatCode>0%</c:formatCode>
                <c:ptCount val="4"/>
                <c:pt idx="1">
                  <c:v>0.99696969696969695</c:v>
                </c:pt>
                <c:pt idx="2">
                  <c:v>0.73496659242761697</c:v>
                </c:pt>
                <c:pt idx="3">
                  <c:v>1.0146892655367232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43B-47A8-AC1F-68E07EDE4909}"/>
            </c:ext>
          </c:extLst>
        </c:ser>
        <c:ser>
          <c:idx val="1"/>
          <c:order val="1"/>
          <c:tx>
            <c:strRef>
              <c:f>'Задание 2'!$T$4</c:f>
              <c:strCache>
                <c:ptCount val="1"/>
                <c:pt idx="0">
                  <c:v>сервер 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'Задание 2'!$R$5:$R$8</c:f>
              <c:strCache>
                <c:ptCount val="4"/>
                <c:pt idx="1">
                  <c:v>02.сен</c:v>
                </c:pt>
                <c:pt idx="2">
                  <c:v>03.сен</c:v>
                </c:pt>
                <c:pt idx="3">
                  <c:v>04.сен</c:v>
                </c:pt>
              </c:strCache>
            </c:strRef>
          </c:cat>
          <c:val>
            <c:numRef>
              <c:f>'Задание 2'!$T$5:$T$8</c:f>
              <c:numCache>
                <c:formatCode>0%</c:formatCode>
                <c:ptCount val="4"/>
                <c:pt idx="1">
                  <c:v>0.99598662207357858</c:v>
                </c:pt>
                <c:pt idx="2">
                  <c:v>1.0498595505617978</c:v>
                </c:pt>
                <c:pt idx="3">
                  <c:v>1.0056497175141244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43B-47A8-AC1F-68E07EDE4909}"/>
            </c:ext>
          </c:extLst>
        </c:ser>
        <c:ser>
          <c:idx val="2"/>
          <c:order val="2"/>
          <c:tx>
            <c:strRef>
              <c:f>'Задание 2'!$U$4</c:f>
              <c:strCache>
                <c:ptCount val="1"/>
                <c:pt idx="0">
                  <c:v>сервер 3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'Задание 2'!$R$5:$R$8</c:f>
              <c:strCache>
                <c:ptCount val="4"/>
                <c:pt idx="1">
                  <c:v>02.сен</c:v>
                </c:pt>
                <c:pt idx="2">
                  <c:v>03.сен</c:v>
                </c:pt>
                <c:pt idx="3">
                  <c:v>04.сен</c:v>
                </c:pt>
              </c:strCache>
            </c:strRef>
          </c:cat>
          <c:val>
            <c:numRef>
              <c:f>'Задание 2'!$U$5:$U$8</c:f>
              <c:numCache>
                <c:formatCode>0%</c:formatCode>
                <c:ptCount val="4"/>
                <c:pt idx="1">
                  <c:v>0.95006747638326583</c:v>
                </c:pt>
                <c:pt idx="2">
                  <c:v>0.81294569391113547</c:v>
                </c:pt>
                <c:pt idx="3">
                  <c:v>0.57471626733921821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343B-47A8-AC1F-68E07EDE490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634816911"/>
        <c:axId val="1634819311"/>
      </c:lineChart>
      <c:dateAx>
        <c:axId val="1634816911"/>
        <c:scaling>
          <c:orientation val="minMax"/>
        </c:scaling>
        <c:delete val="0"/>
        <c:axPos val="b"/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Дата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634819311"/>
        <c:crosses val="autoZero"/>
        <c:auto val="0"/>
        <c:lblOffset val="100"/>
        <c:baseTimeUnit val="days"/>
      </c:dateAx>
      <c:valAx>
        <c:axId val="163481931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000" b="0" i="0" u="none" strike="noStrike" kern="1200" baseline="0">
                    <a:solidFill>
                      <a:srgbClr val="000000">
                        <a:lumMod val="65000"/>
                        <a:lumOff val="35000"/>
                      </a:srgbClr>
                    </a:solidFill>
                  </a:rPr>
                  <a:t>Коэффициент роста, %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0.0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63481691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[Transaction_list.xlsx]Задание 3!Сводная таблица1</c:name>
    <c:fmtId val="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dirty="0"/>
              <a:t>Доли транзакций </a:t>
            </a:r>
            <a:r>
              <a:rPr lang="ru-RU" baseline="0" dirty="0"/>
              <a:t> от способа их проведения</a:t>
            </a:r>
          </a:p>
        </c:rich>
      </c:tx>
      <c:layout>
        <c:manualLayout>
          <c:xMode val="edge"/>
          <c:yMode val="edge"/>
          <c:x val="0.13853874243980374"/>
          <c:y val="2.855333167657535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'Задание 3'!$B$3:$B$4</c:f>
              <c:strCache>
                <c:ptCount val="1"/>
                <c:pt idx="0">
                  <c:v>кассир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'Задание 3'!$A$5:$A$11</c:f>
              <c:strCache>
                <c:ptCount val="6"/>
                <c:pt idx="0">
                  <c:v>Ленинский пр-т, 162/1</c:v>
                </c:pt>
                <c:pt idx="1">
                  <c:v>пр-т Вернадского, 88к3</c:v>
                </c:pt>
                <c:pt idx="2">
                  <c:v>Ракетный б-р, 14к1</c:v>
                </c:pt>
                <c:pt idx="3">
                  <c:v>Симферопольский б-р, 22</c:v>
                </c:pt>
                <c:pt idx="4">
                  <c:v>ул. Чертановская,  20к2</c:v>
                </c:pt>
                <c:pt idx="5">
                  <c:v>ул. Щорса, 26/3</c:v>
                </c:pt>
              </c:strCache>
            </c:strRef>
          </c:cat>
          <c:val>
            <c:numRef>
              <c:f>'Задание 3'!$B$5:$B$11</c:f>
              <c:numCache>
                <c:formatCode>General</c:formatCode>
                <c:ptCount val="6"/>
                <c:pt idx="0">
                  <c:v>9456</c:v>
                </c:pt>
                <c:pt idx="1">
                  <c:v>4868</c:v>
                </c:pt>
                <c:pt idx="2">
                  <c:v>5604</c:v>
                </c:pt>
                <c:pt idx="3">
                  <c:v>455</c:v>
                </c:pt>
                <c:pt idx="4">
                  <c:v>1255</c:v>
                </c:pt>
                <c:pt idx="5">
                  <c:v>3112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8FE-409F-A2E7-08898CD352A3}"/>
            </c:ext>
          </c:extLst>
        </c:ser>
        <c:ser>
          <c:idx val="1"/>
          <c:order val="1"/>
          <c:tx>
            <c:strRef>
              <c:f>'Задание 3'!$C$3:$C$4</c:f>
              <c:strCache>
                <c:ptCount val="1"/>
                <c:pt idx="0">
                  <c:v>КСО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'Задание 3'!$A$5:$A$11</c:f>
              <c:strCache>
                <c:ptCount val="6"/>
                <c:pt idx="0">
                  <c:v>Ленинский пр-т, 162/1</c:v>
                </c:pt>
                <c:pt idx="1">
                  <c:v>пр-т Вернадского, 88к3</c:v>
                </c:pt>
                <c:pt idx="2">
                  <c:v>Ракетный б-р, 14к1</c:v>
                </c:pt>
                <c:pt idx="3">
                  <c:v>Симферопольский б-р, 22</c:v>
                </c:pt>
                <c:pt idx="4">
                  <c:v>ул. Чертановская,  20к2</c:v>
                </c:pt>
                <c:pt idx="5">
                  <c:v>ул. Щорса, 26/3</c:v>
                </c:pt>
              </c:strCache>
            </c:strRef>
          </c:cat>
          <c:val>
            <c:numRef>
              <c:f>'Задание 3'!$C$5:$C$11</c:f>
              <c:numCache>
                <c:formatCode>General</c:formatCode>
                <c:ptCount val="6"/>
                <c:pt idx="0">
                  <c:v>1387</c:v>
                </c:pt>
                <c:pt idx="1">
                  <c:v>1761</c:v>
                </c:pt>
                <c:pt idx="3">
                  <c:v>1830</c:v>
                </c:pt>
                <c:pt idx="4">
                  <c:v>3740</c:v>
                </c:pt>
                <c:pt idx="5">
                  <c:v>1192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8FE-409F-A2E7-08898CD352A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411393856"/>
        <c:axId val="411396736"/>
      </c:barChart>
      <c:catAx>
        <c:axId val="411393856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Адресс торговой точки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411396736"/>
        <c:crosses val="autoZero"/>
        <c:auto val="1"/>
        <c:lblAlgn val="ctr"/>
        <c:lblOffset val="100"/>
        <c:noMultiLvlLbl val="0"/>
      </c:catAx>
      <c:valAx>
        <c:axId val="4113967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Доля,%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41139385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[Transaction_list.xlsx]Задание 3!Сводная таблица4</c:name>
    <c:fmtId val="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/>
              <a:t>Доля</a:t>
            </a:r>
            <a:r>
              <a:rPr lang="ru-RU" baseline="0"/>
              <a:t> транзакций через КСО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'Задание 3'!$H$3</c:f>
              <c:strCache>
                <c:ptCount val="1"/>
                <c:pt idx="0">
                  <c:v>Итог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'Задание 3'!$G$4:$G$8</c:f>
              <c:strCache>
                <c:ptCount val="4"/>
                <c:pt idx="0">
                  <c:v>1-сен</c:v>
                </c:pt>
                <c:pt idx="1">
                  <c:v>2-сен</c:v>
                </c:pt>
                <c:pt idx="2">
                  <c:v>3-сен</c:v>
                </c:pt>
                <c:pt idx="3">
                  <c:v>4-сен</c:v>
                </c:pt>
              </c:strCache>
            </c:strRef>
          </c:cat>
          <c:val>
            <c:numRef>
              <c:f>'Задание 3'!$H$4:$H$8</c:f>
              <c:numCache>
                <c:formatCode>0.00%</c:formatCode>
                <c:ptCount val="4"/>
                <c:pt idx="0">
                  <c:v>0.23085743406803413</c:v>
                </c:pt>
                <c:pt idx="1">
                  <c:v>0.22876557191392979</c:v>
                </c:pt>
                <c:pt idx="2">
                  <c:v>0.30071680509728071</c:v>
                </c:pt>
                <c:pt idx="3">
                  <c:v>0.36099255583126549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308-4A66-95FE-A9258BDE018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368841424"/>
        <c:axId val="368837584"/>
      </c:barChart>
      <c:catAx>
        <c:axId val="368841424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Дата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368837584"/>
        <c:crosses val="autoZero"/>
        <c:auto val="1"/>
        <c:lblAlgn val="ctr"/>
        <c:lblOffset val="100"/>
        <c:noMultiLvlLbl val="0"/>
      </c:catAx>
      <c:valAx>
        <c:axId val="3688375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Доля,%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36884142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[Transaction_list.xlsx]Задание 3!Сводная таблица6</c:name>
    <c:fmtId val="9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/>
              <a:t>Среднее время тразакций по дням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'Задание 3'!$B$44</c:f>
              <c:strCache>
                <c:ptCount val="1"/>
                <c:pt idx="0">
                  <c:v>Итог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'Задание 3'!$A$45:$A$49</c:f>
              <c:strCache>
                <c:ptCount val="4"/>
                <c:pt idx="0">
                  <c:v>01.сен</c:v>
                </c:pt>
                <c:pt idx="1">
                  <c:v>02.сен</c:v>
                </c:pt>
                <c:pt idx="2">
                  <c:v>03.сен</c:v>
                </c:pt>
                <c:pt idx="3">
                  <c:v>04.сен</c:v>
                </c:pt>
              </c:strCache>
            </c:strRef>
          </c:cat>
          <c:val>
            <c:numRef>
              <c:f>'Задание 3'!$B$45:$B$49</c:f>
              <c:numCache>
                <c:formatCode>_(* #,##0.00_);_(* \(#,##0.00\);_(* "-"??_);_(@_)</c:formatCode>
                <c:ptCount val="4"/>
                <c:pt idx="0">
                  <c:v>124.70721337497949</c:v>
                </c:pt>
                <c:pt idx="1">
                  <c:v>80.103562879249552</c:v>
                </c:pt>
                <c:pt idx="2">
                  <c:v>85.846029801290712</c:v>
                </c:pt>
                <c:pt idx="3">
                  <c:v>90.399762174202408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B13-479C-A972-A3028B6F15E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98135328"/>
        <c:axId val="1098129088"/>
      </c:lineChart>
      <c:catAx>
        <c:axId val="1098135328"/>
        <c:scaling>
          <c:orientation val="minMax"/>
        </c:scaling>
        <c:delete val="0"/>
        <c:axPos val="b"/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Дата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098129088"/>
        <c:crosses val="autoZero"/>
        <c:auto val="1"/>
        <c:lblAlgn val="ctr"/>
        <c:lblOffset val="100"/>
        <c:noMultiLvlLbl val="0"/>
      </c:catAx>
      <c:valAx>
        <c:axId val="10981290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200" b="0"/>
                  <a:t>Время,сек.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_(* #,##0.00_);_(* \(#,##0.00\);_(* &quot;-&quot;??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09813532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[Transaction_list.xlsx]ТЗ1!Сводная таблица14</c:name>
    <c:fmtId val="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/>
              <a:t>Средняя время транзакций</a:t>
            </a:r>
            <a:r>
              <a:rPr lang="ru-RU" baseline="0"/>
              <a:t> в торговых точках по часам</a:t>
            </a:r>
            <a:endParaRPr lang="ru-RU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ТЗ1!$B$139:$B$140</c:f>
              <c:strCache>
                <c:ptCount val="1"/>
                <c:pt idx="0">
                  <c:v>Ленинский пр-т, 162/1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multiLvlStrRef>
              <c:f>ТЗ1!$A$141:$A$166</c:f>
              <c:multiLvlStrCache>
                <c:ptCount val="24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  <c:pt idx="23">
                    <c:v>23</c:v>
                  </c:pt>
                </c:lvl>
                <c:lvl>
                  <c:pt idx="0">
                    <c:v>01.сен</c:v>
                  </c:pt>
                </c:lvl>
              </c:multiLvlStrCache>
            </c:multiLvlStrRef>
          </c:cat>
          <c:val>
            <c:numRef>
              <c:f>ТЗ1!$B$141:$B$166</c:f>
              <c:numCache>
                <c:formatCode>_(* #,##0.00_);_(* \(#,##0.00\);_(* "-"??_);_(@_)</c:formatCode>
                <c:ptCount val="24"/>
                <c:pt idx="0">
                  <c:v>75.395693813505417</c:v>
                </c:pt>
                <c:pt idx="1">
                  <c:v>63.803369537015094</c:v>
                </c:pt>
                <c:pt idx="2">
                  <c:v>64.302538320128065</c:v>
                </c:pt>
                <c:pt idx="3">
                  <c:v>73.825465878638042</c:v>
                </c:pt>
                <c:pt idx="4">
                  <c:v>77.495481276207343</c:v>
                </c:pt>
                <c:pt idx="5">
                  <c:v>70.93505214408809</c:v>
                </c:pt>
                <c:pt idx="6">
                  <c:v>64.32266108400654</c:v>
                </c:pt>
                <c:pt idx="7">
                  <c:v>72.744772363895251</c:v>
                </c:pt>
                <c:pt idx="8">
                  <c:v>75.836212983211652</c:v>
                </c:pt>
                <c:pt idx="9">
                  <c:v>72.093852642124062</c:v>
                </c:pt>
                <c:pt idx="10">
                  <c:v>74.246592381361708</c:v>
                </c:pt>
                <c:pt idx="11">
                  <c:v>166.0814692533867</c:v>
                </c:pt>
                <c:pt idx="12">
                  <c:v>169.63459274265915</c:v>
                </c:pt>
                <c:pt idx="13">
                  <c:v>161.19862416597579</c:v>
                </c:pt>
                <c:pt idx="14">
                  <c:v>156.1355107259827</c:v>
                </c:pt>
                <c:pt idx="15">
                  <c:v>159.06993045640939</c:v>
                </c:pt>
                <c:pt idx="16">
                  <c:v>68.654513563466281</c:v>
                </c:pt>
                <c:pt idx="17">
                  <c:v>69.996400116551143</c:v>
                </c:pt>
                <c:pt idx="18">
                  <c:v>78.990293901342042</c:v>
                </c:pt>
                <c:pt idx="19">
                  <c:v>82.032843651885003</c:v>
                </c:pt>
                <c:pt idx="20">
                  <c:v>84.799599664677913</c:v>
                </c:pt>
                <c:pt idx="21">
                  <c:v>74.605752171303791</c:v>
                </c:pt>
                <c:pt idx="22">
                  <c:v>65.935049111604556</c:v>
                </c:pt>
                <c:pt idx="23">
                  <c:v>78.353372954434775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694-4AF2-A48A-0CC3DA22E8E9}"/>
            </c:ext>
          </c:extLst>
        </c:ser>
        <c:ser>
          <c:idx val="1"/>
          <c:order val="1"/>
          <c:tx>
            <c:strRef>
              <c:f>ТЗ1!$C$139:$C$140</c:f>
              <c:strCache>
                <c:ptCount val="1"/>
                <c:pt idx="0">
                  <c:v>пр-т Вернадского, 88к3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multiLvlStrRef>
              <c:f>ТЗ1!$A$141:$A$166</c:f>
              <c:multiLvlStrCache>
                <c:ptCount val="24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  <c:pt idx="23">
                    <c:v>23</c:v>
                  </c:pt>
                </c:lvl>
                <c:lvl>
                  <c:pt idx="0">
                    <c:v>01.сен</c:v>
                  </c:pt>
                </c:lvl>
              </c:multiLvlStrCache>
            </c:multiLvlStrRef>
          </c:cat>
          <c:val>
            <c:numRef>
              <c:f>ТЗ1!$C$141:$C$166</c:f>
              <c:numCache>
                <c:formatCode>_(* #,##0.00_);_(* \(#,##0.00\);_(* "-"??_);_(@_)</c:formatCode>
                <c:ptCount val="24"/>
                <c:pt idx="0">
                  <c:v>107.49582496272134</c:v>
                </c:pt>
                <c:pt idx="1">
                  <c:v>124.21704964204268</c:v>
                </c:pt>
                <c:pt idx="2">
                  <c:v>115.94877371956643</c:v>
                </c:pt>
                <c:pt idx="3">
                  <c:v>117.15483950078487</c:v>
                </c:pt>
                <c:pt idx="4">
                  <c:v>107.61570963252969</c:v>
                </c:pt>
                <c:pt idx="5">
                  <c:v>107.16517550356097</c:v>
                </c:pt>
                <c:pt idx="6">
                  <c:v>113.95561235612664</c:v>
                </c:pt>
                <c:pt idx="7">
                  <c:v>112.12564257333393</c:v>
                </c:pt>
                <c:pt idx="8">
                  <c:v>120.5230783858061</c:v>
                </c:pt>
                <c:pt idx="9">
                  <c:v>109.85963646697797</c:v>
                </c:pt>
                <c:pt idx="10">
                  <c:v>97.629621258128509</c:v>
                </c:pt>
                <c:pt idx="11">
                  <c:v>151.87495674239472</c:v>
                </c:pt>
                <c:pt idx="12">
                  <c:v>155.7312388562739</c:v>
                </c:pt>
                <c:pt idx="13">
                  <c:v>164.51194040791327</c:v>
                </c:pt>
                <c:pt idx="14">
                  <c:v>152.39455179096416</c:v>
                </c:pt>
                <c:pt idx="15">
                  <c:v>162.37560112494975</c:v>
                </c:pt>
                <c:pt idx="16">
                  <c:v>108.80381082103628</c:v>
                </c:pt>
                <c:pt idx="17">
                  <c:v>99.361860015514225</c:v>
                </c:pt>
                <c:pt idx="18">
                  <c:v>98.405670970320131</c:v>
                </c:pt>
                <c:pt idx="19">
                  <c:v>122.04666592726043</c:v>
                </c:pt>
                <c:pt idx="20">
                  <c:v>105.12338564035713</c:v>
                </c:pt>
                <c:pt idx="21">
                  <c:v>104.6946665501668</c:v>
                </c:pt>
                <c:pt idx="22">
                  <c:v>96.848222420085222</c:v>
                </c:pt>
                <c:pt idx="23">
                  <c:v>112.39395128696093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694-4AF2-A48A-0CC3DA22E8E9}"/>
            </c:ext>
          </c:extLst>
        </c:ser>
        <c:ser>
          <c:idx val="2"/>
          <c:order val="2"/>
          <c:tx>
            <c:strRef>
              <c:f>ТЗ1!$D$139:$D$140</c:f>
              <c:strCache>
                <c:ptCount val="1"/>
                <c:pt idx="0">
                  <c:v>Ракетный б-р, 14к1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multiLvlStrRef>
              <c:f>ТЗ1!$A$141:$A$166</c:f>
              <c:multiLvlStrCache>
                <c:ptCount val="24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  <c:pt idx="23">
                    <c:v>23</c:v>
                  </c:pt>
                </c:lvl>
                <c:lvl>
                  <c:pt idx="0">
                    <c:v>01.сен</c:v>
                  </c:pt>
                </c:lvl>
              </c:multiLvlStrCache>
            </c:multiLvlStrRef>
          </c:cat>
          <c:val>
            <c:numRef>
              <c:f>ТЗ1!$D$141:$D$166</c:f>
              <c:numCache>
                <c:formatCode>_(* #,##0.00_);_(* \(#,##0.00\);_(* "-"??_);_(@_)</c:formatCode>
                <c:ptCount val="24"/>
                <c:pt idx="0">
                  <c:v>96.191763466851285</c:v>
                </c:pt>
                <c:pt idx="1">
                  <c:v>98.923699772048337</c:v>
                </c:pt>
                <c:pt idx="2">
                  <c:v>88.127189909573644</c:v>
                </c:pt>
                <c:pt idx="3">
                  <c:v>83.718173347926722</c:v>
                </c:pt>
                <c:pt idx="4">
                  <c:v>96.796966756365322</c:v>
                </c:pt>
                <c:pt idx="5">
                  <c:v>92.736195063437606</c:v>
                </c:pt>
                <c:pt idx="6">
                  <c:v>103.7297684853053</c:v>
                </c:pt>
                <c:pt idx="7">
                  <c:v>71.293763483620509</c:v>
                </c:pt>
                <c:pt idx="8">
                  <c:v>89.874351004670771</c:v>
                </c:pt>
                <c:pt idx="9">
                  <c:v>76.593845298415729</c:v>
                </c:pt>
                <c:pt idx="10">
                  <c:v>75.575645894787158</c:v>
                </c:pt>
                <c:pt idx="11">
                  <c:v>92.981212574522942</c:v>
                </c:pt>
                <c:pt idx="12">
                  <c:v>80.630079174879938</c:v>
                </c:pt>
                <c:pt idx="13">
                  <c:v>79.552150428678615</c:v>
                </c:pt>
                <c:pt idx="14">
                  <c:v>103.82501608226448</c:v>
                </c:pt>
                <c:pt idx="15">
                  <c:v>95.764655700223827</c:v>
                </c:pt>
                <c:pt idx="16">
                  <c:v>85.787115662956154</c:v>
                </c:pt>
                <c:pt idx="17">
                  <c:v>100.35393512942112</c:v>
                </c:pt>
                <c:pt idx="18">
                  <c:v>108.9830854333584</c:v>
                </c:pt>
                <c:pt idx="19">
                  <c:v>131.7967217038225</c:v>
                </c:pt>
                <c:pt idx="20">
                  <c:v>110.87569734809222</c:v>
                </c:pt>
                <c:pt idx="21">
                  <c:v>141.06709118817977</c:v>
                </c:pt>
                <c:pt idx="22">
                  <c:v>131.30673950198232</c:v>
                </c:pt>
                <c:pt idx="23">
                  <c:v>138.6807914526234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8694-4AF2-A48A-0CC3DA22E8E9}"/>
            </c:ext>
          </c:extLst>
        </c:ser>
        <c:ser>
          <c:idx val="3"/>
          <c:order val="3"/>
          <c:tx>
            <c:strRef>
              <c:f>ТЗ1!$E$139:$E$140</c:f>
              <c:strCache>
                <c:ptCount val="1"/>
                <c:pt idx="0">
                  <c:v>Симферопольский б-р, 22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multiLvlStrRef>
              <c:f>ТЗ1!$A$141:$A$166</c:f>
              <c:multiLvlStrCache>
                <c:ptCount val="24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  <c:pt idx="23">
                    <c:v>23</c:v>
                  </c:pt>
                </c:lvl>
                <c:lvl>
                  <c:pt idx="0">
                    <c:v>01.сен</c:v>
                  </c:pt>
                </c:lvl>
              </c:multiLvlStrCache>
            </c:multiLvlStrRef>
          </c:cat>
          <c:val>
            <c:numRef>
              <c:f>ТЗ1!$E$141:$E$166</c:f>
              <c:numCache>
                <c:formatCode>_(* #,##0.00_);_(* \(#,##0.00\);_(* "-"??_);_(@_)</c:formatCode>
                <c:ptCount val="24"/>
                <c:pt idx="0">
                  <c:v>220.62057200819254</c:v>
                </c:pt>
                <c:pt idx="1">
                  <c:v>204.96410390761281</c:v>
                </c:pt>
                <c:pt idx="2">
                  <c:v>221.36091590106773</c:v>
                </c:pt>
                <c:pt idx="3">
                  <c:v>197.45958196165572</c:v>
                </c:pt>
                <c:pt idx="4">
                  <c:v>224.71267680735573</c:v>
                </c:pt>
                <c:pt idx="5">
                  <c:v>195.20977961186034</c:v>
                </c:pt>
                <c:pt idx="6">
                  <c:v>219.13856745609459</c:v>
                </c:pt>
                <c:pt idx="7">
                  <c:v>215.82051226403564</c:v>
                </c:pt>
                <c:pt idx="8">
                  <c:v>227.35399767689938</c:v>
                </c:pt>
                <c:pt idx="9">
                  <c:v>212.47934923241181</c:v>
                </c:pt>
                <c:pt idx="10">
                  <c:v>216.63862868603744</c:v>
                </c:pt>
                <c:pt idx="11">
                  <c:v>228.1377139716642</c:v>
                </c:pt>
                <c:pt idx="12">
                  <c:v>212.38955941728571</c:v>
                </c:pt>
                <c:pt idx="13">
                  <c:v>243.28885256778449</c:v>
                </c:pt>
                <c:pt idx="14">
                  <c:v>223.62056859260932</c:v>
                </c:pt>
                <c:pt idx="15">
                  <c:v>226.06843373909288</c:v>
                </c:pt>
                <c:pt idx="16">
                  <c:v>227.82689876330551</c:v>
                </c:pt>
                <c:pt idx="17">
                  <c:v>224.22886722820945</c:v>
                </c:pt>
                <c:pt idx="18">
                  <c:v>206.21106439809265</c:v>
                </c:pt>
                <c:pt idx="19">
                  <c:v>185.70843723602593</c:v>
                </c:pt>
                <c:pt idx="20">
                  <c:v>213.54483874336651</c:v>
                </c:pt>
                <c:pt idx="21">
                  <c:v>240.09581529335784</c:v>
                </c:pt>
                <c:pt idx="22">
                  <c:v>223.10670610517263</c:v>
                </c:pt>
                <c:pt idx="23">
                  <c:v>236.15579103352502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8694-4AF2-A48A-0CC3DA22E8E9}"/>
            </c:ext>
          </c:extLst>
        </c:ser>
        <c:ser>
          <c:idx val="4"/>
          <c:order val="4"/>
          <c:tx>
            <c:strRef>
              <c:f>ТЗ1!$F$139:$F$140</c:f>
              <c:strCache>
                <c:ptCount val="1"/>
                <c:pt idx="0">
                  <c:v>ул. Щорса, 26/3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cat>
            <c:multiLvlStrRef>
              <c:f>ТЗ1!$A$141:$A$166</c:f>
              <c:multiLvlStrCache>
                <c:ptCount val="24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  <c:pt idx="23">
                    <c:v>23</c:v>
                  </c:pt>
                </c:lvl>
                <c:lvl>
                  <c:pt idx="0">
                    <c:v>01.сен</c:v>
                  </c:pt>
                </c:lvl>
              </c:multiLvlStrCache>
            </c:multiLvlStrRef>
          </c:cat>
          <c:val>
            <c:numRef>
              <c:f>ТЗ1!$F$141:$F$166</c:f>
              <c:numCache>
                <c:formatCode>_(* #,##0.00_);_(* \(#,##0.00\);_(* "-"??_);_(@_)</c:formatCode>
                <c:ptCount val="24"/>
                <c:pt idx="0">
                  <c:v>144.2157665317479</c:v>
                </c:pt>
                <c:pt idx="1">
                  <c:v>126.90396837831941</c:v>
                </c:pt>
                <c:pt idx="2">
                  <c:v>128.80592484725639</c:v>
                </c:pt>
                <c:pt idx="3">
                  <c:v>257.67098882206483</c:v>
                </c:pt>
                <c:pt idx="4">
                  <c:v>183.63044598781681</c:v>
                </c:pt>
                <c:pt idx="5">
                  <c:v>287.76392666331958</c:v>
                </c:pt>
                <c:pt idx="6">
                  <c:v>218.7712519130898</c:v>
                </c:pt>
                <c:pt idx="7">
                  <c:v>138.80676475058937</c:v>
                </c:pt>
                <c:pt idx="8">
                  <c:v>147.88707348983735</c:v>
                </c:pt>
                <c:pt idx="9">
                  <c:v>148.67805009707808</c:v>
                </c:pt>
                <c:pt idx="10">
                  <c:v>143.25941399005907</c:v>
                </c:pt>
                <c:pt idx="11">
                  <c:v>131.28065239516613</c:v>
                </c:pt>
                <c:pt idx="12">
                  <c:v>138.66500442428514</c:v>
                </c:pt>
                <c:pt idx="13">
                  <c:v>136.430150891674</c:v>
                </c:pt>
                <c:pt idx="14">
                  <c:v>136.04584586994841</c:v>
                </c:pt>
                <c:pt idx="15">
                  <c:v>134.5910629822298</c:v>
                </c:pt>
                <c:pt idx="16">
                  <c:v>155.28822427382693</c:v>
                </c:pt>
                <c:pt idx="17">
                  <c:v>136.43725179426838</c:v>
                </c:pt>
                <c:pt idx="18">
                  <c:v>157.17893237914805</c:v>
                </c:pt>
                <c:pt idx="19">
                  <c:v>127.99031683654688</c:v>
                </c:pt>
                <c:pt idx="20">
                  <c:v>168.69327854972494</c:v>
                </c:pt>
                <c:pt idx="21">
                  <c:v>146.66882445177944</c:v>
                </c:pt>
                <c:pt idx="22">
                  <c:v>165.48762260254745</c:v>
                </c:pt>
                <c:pt idx="23">
                  <c:v>155.28277886280028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8694-4AF2-A48A-0CC3DA22E8E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313870288"/>
        <c:axId val="313872688"/>
      </c:lineChart>
      <c:catAx>
        <c:axId val="313870288"/>
        <c:scaling>
          <c:orientation val="minMax"/>
        </c:scaling>
        <c:delete val="0"/>
        <c:axPos val="b"/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Время, ч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313872688"/>
        <c:crosses val="autoZero"/>
        <c:auto val="1"/>
        <c:lblAlgn val="ctr"/>
        <c:lblOffset val="100"/>
        <c:noMultiLvlLbl val="0"/>
      </c:catAx>
      <c:valAx>
        <c:axId val="3138726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Время, сек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_(* #,##0.00_);_(* \(#,##0.00\);_(* &quot;-&quot;??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31387028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[Transaction_list.xlsx]ТЗ1!Сводная таблица6</c:name>
    <c:fmtId val="1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/>
              <a:t>Количество транзакций в торговых точках по часам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ТЗ1!$B$607:$B$608</c:f>
              <c:strCache>
                <c:ptCount val="1"/>
                <c:pt idx="0">
                  <c:v>Ленинский пр-т, 162/1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multiLvlStrRef>
              <c:f>ТЗ1!$A$609:$A$634</c:f>
              <c:multiLvlStrCache>
                <c:ptCount val="24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  <c:pt idx="23">
                    <c:v>23</c:v>
                  </c:pt>
                </c:lvl>
                <c:lvl>
                  <c:pt idx="0">
                    <c:v>01.сен</c:v>
                  </c:pt>
                </c:lvl>
              </c:multiLvlStrCache>
            </c:multiLvlStrRef>
          </c:cat>
          <c:val>
            <c:numRef>
              <c:f>ТЗ1!$B$609:$B$634</c:f>
              <c:numCache>
                <c:formatCode>General</c:formatCode>
                <c:ptCount val="24"/>
                <c:pt idx="0">
                  <c:v>119</c:v>
                </c:pt>
                <c:pt idx="1">
                  <c:v>97</c:v>
                </c:pt>
                <c:pt idx="2">
                  <c:v>95</c:v>
                </c:pt>
                <c:pt idx="3">
                  <c:v>84</c:v>
                </c:pt>
                <c:pt idx="4">
                  <c:v>110</c:v>
                </c:pt>
                <c:pt idx="5">
                  <c:v>92</c:v>
                </c:pt>
                <c:pt idx="6">
                  <c:v>120</c:v>
                </c:pt>
                <c:pt idx="7">
                  <c:v>114</c:v>
                </c:pt>
                <c:pt idx="8">
                  <c:v>117</c:v>
                </c:pt>
                <c:pt idx="9">
                  <c:v>106</c:v>
                </c:pt>
                <c:pt idx="10">
                  <c:v>115</c:v>
                </c:pt>
                <c:pt idx="11">
                  <c:v>134</c:v>
                </c:pt>
                <c:pt idx="12">
                  <c:v>120</c:v>
                </c:pt>
                <c:pt idx="13">
                  <c:v>147</c:v>
                </c:pt>
                <c:pt idx="14">
                  <c:v>170</c:v>
                </c:pt>
                <c:pt idx="15">
                  <c:v>165</c:v>
                </c:pt>
                <c:pt idx="16">
                  <c:v>113</c:v>
                </c:pt>
                <c:pt idx="17">
                  <c:v>107</c:v>
                </c:pt>
                <c:pt idx="18">
                  <c:v>117</c:v>
                </c:pt>
                <c:pt idx="19">
                  <c:v>110</c:v>
                </c:pt>
                <c:pt idx="20">
                  <c:v>95</c:v>
                </c:pt>
                <c:pt idx="21">
                  <c:v>117</c:v>
                </c:pt>
                <c:pt idx="22">
                  <c:v>109</c:v>
                </c:pt>
                <c:pt idx="23">
                  <c:v>102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7A1-4EC6-AA42-275634F43EDC}"/>
            </c:ext>
          </c:extLst>
        </c:ser>
        <c:ser>
          <c:idx val="1"/>
          <c:order val="1"/>
          <c:tx>
            <c:strRef>
              <c:f>ТЗ1!$C$607:$C$608</c:f>
              <c:strCache>
                <c:ptCount val="1"/>
                <c:pt idx="0">
                  <c:v>пр-т Вернадского, 88к3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multiLvlStrRef>
              <c:f>ТЗ1!$A$609:$A$634</c:f>
              <c:multiLvlStrCache>
                <c:ptCount val="24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  <c:pt idx="23">
                    <c:v>23</c:v>
                  </c:pt>
                </c:lvl>
                <c:lvl>
                  <c:pt idx="0">
                    <c:v>01.сен</c:v>
                  </c:pt>
                </c:lvl>
              </c:multiLvlStrCache>
            </c:multiLvlStrRef>
          </c:cat>
          <c:val>
            <c:numRef>
              <c:f>ТЗ1!$C$609:$C$634</c:f>
              <c:numCache>
                <c:formatCode>General</c:formatCode>
                <c:ptCount val="24"/>
                <c:pt idx="0">
                  <c:v>63</c:v>
                </c:pt>
                <c:pt idx="1">
                  <c:v>66</c:v>
                </c:pt>
                <c:pt idx="2">
                  <c:v>57</c:v>
                </c:pt>
                <c:pt idx="3">
                  <c:v>50</c:v>
                </c:pt>
                <c:pt idx="4">
                  <c:v>53</c:v>
                </c:pt>
                <c:pt idx="5">
                  <c:v>57</c:v>
                </c:pt>
                <c:pt idx="6">
                  <c:v>69</c:v>
                </c:pt>
                <c:pt idx="7">
                  <c:v>66</c:v>
                </c:pt>
                <c:pt idx="8">
                  <c:v>71</c:v>
                </c:pt>
                <c:pt idx="9">
                  <c:v>67</c:v>
                </c:pt>
                <c:pt idx="10">
                  <c:v>53</c:v>
                </c:pt>
                <c:pt idx="11">
                  <c:v>90</c:v>
                </c:pt>
                <c:pt idx="12">
                  <c:v>92</c:v>
                </c:pt>
                <c:pt idx="13">
                  <c:v>86</c:v>
                </c:pt>
                <c:pt idx="14">
                  <c:v>78</c:v>
                </c:pt>
                <c:pt idx="15">
                  <c:v>90</c:v>
                </c:pt>
                <c:pt idx="16">
                  <c:v>69</c:v>
                </c:pt>
                <c:pt idx="17">
                  <c:v>66</c:v>
                </c:pt>
                <c:pt idx="18">
                  <c:v>65</c:v>
                </c:pt>
                <c:pt idx="19">
                  <c:v>76</c:v>
                </c:pt>
                <c:pt idx="20">
                  <c:v>77</c:v>
                </c:pt>
                <c:pt idx="21">
                  <c:v>71</c:v>
                </c:pt>
                <c:pt idx="22">
                  <c:v>90</c:v>
                </c:pt>
                <c:pt idx="23">
                  <c:v>70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7A1-4EC6-AA42-275634F43EDC}"/>
            </c:ext>
          </c:extLst>
        </c:ser>
        <c:ser>
          <c:idx val="2"/>
          <c:order val="2"/>
          <c:tx>
            <c:strRef>
              <c:f>ТЗ1!$D$607:$D$608</c:f>
              <c:strCache>
                <c:ptCount val="1"/>
                <c:pt idx="0">
                  <c:v>Ракетный б-р, 14к1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multiLvlStrRef>
              <c:f>ТЗ1!$A$609:$A$634</c:f>
              <c:multiLvlStrCache>
                <c:ptCount val="24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  <c:pt idx="23">
                    <c:v>23</c:v>
                  </c:pt>
                </c:lvl>
                <c:lvl>
                  <c:pt idx="0">
                    <c:v>01.сен</c:v>
                  </c:pt>
                </c:lvl>
              </c:multiLvlStrCache>
            </c:multiLvlStrRef>
          </c:cat>
          <c:val>
            <c:numRef>
              <c:f>ТЗ1!$D$609:$D$634</c:f>
              <c:numCache>
                <c:formatCode>General</c:formatCode>
                <c:ptCount val="24"/>
                <c:pt idx="0">
                  <c:v>49</c:v>
                </c:pt>
                <c:pt idx="1">
                  <c:v>74</c:v>
                </c:pt>
                <c:pt idx="2">
                  <c:v>54</c:v>
                </c:pt>
                <c:pt idx="3">
                  <c:v>49</c:v>
                </c:pt>
                <c:pt idx="4">
                  <c:v>51</c:v>
                </c:pt>
                <c:pt idx="5">
                  <c:v>51</c:v>
                </c:pt>
                <c:pt idx="6">
                  <c:v>53</c:v>
                </c:pt>
                <c:pt idx="7">
                  <c:v>55</c:v>
                </c:pt>
                <c:pt idx="8">
                  <c:v>63</c:v>
                </c:pt>
                <c:pt idx="9">
                  <c:v>57</c:v>
                </c:pt>
                <c:pt idx="10">
                  <c:v>64</c:v>
                </c:pt>
                <c:pt idx="11">
                  <c:v>72</c:v>
                </c:pt>
                <c:pt idx="12">
                  <c:v>60</c:v>
                </c:pt>
                <c:pt idx="13">
                  <c:v>51</c:v>
                </c:pt>
                <c:pt idx="14">
                  <c:v>65</c:v>
                </c:pt>
                <c:pt idx="15">
                  <c:v>62</c:v>
                </c:pt>
                <c:pt idx="16">
                  <c:v>53</c:v>
                </c:pt>
                <c:pt idx="17">
                  <c:v>52</c:v>
                </c:pt>
                <c:pt idx="18">
                  <c:v>58</c:v>
                </c:pt>
                <c:pt idx="19">
                  <c:v>58</c:v>
                </c:pt>
                <c:pt idx="20">
                  <c:v>64</c:v>
                </c:pt>
                <c:pt idx="21">
                  <c:v>61</c:v>
                </c:pt>
                <c:pt idx="22">
                  <c:v>74</c:v>
                </c:pt>
                <c:pt idx="23">
                  <c:v>58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07A1-4EC6-AA42-275634F43EDC}"/>
            </c:ext>
          </c:extLst>
        </c:ser>
        <c:ser>
          <c:idx val="3"/>
          <c:order val="3"/>
          <c:tx>
            <c:strRef>
              <c:f>ТЗ1!$E$607:$E$608</c:f>
              <c:strCache>
                <c:ptCount val="1"/>
                <c:pt idx="0">
                  <c:v>Симферопольский б-р, 22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multiLvlStrRef>
              <c:f>ТЗ1!$A$609:$A$634</c:f>
              <c:multiLvlStrCache>
                <c:ptCount val="24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  <c:pt idx="23">
                    <c:v>23</c:v>
                  </c:pt>
                </c:lvl>
                <c:lvl>
                  <c:pt idx="0">
                    <c:v>01.сен</c:v>
                  </c:pt>
                </c:lvl>
              </c:multiLvlStrCache>
            </c:multiLvlStrRef>
          </c:cat>
          <c:val>
            <c:numRef>
              <c:f>ТЗ1!$E$609:$E$634</c:f>
              <c:numCache>
                <c:formatCode>General</c:formatCode>
                <c:ptCount val="24"/>
                <c:pt idx="0">
                  <c:v>27</c:v>
                </c:pt>
                <c:pt idx="1">
                  <c:v>35</c:v>
                </c:pt>
                <c:pt idx="2">
                  <c:v>26</c:v>
                </c:pt>
                <c:pt idx="3">
                  <c:v>28</c:v>
                </c:pt>
                <c:pt idx="4">
                  <c:v>38</c:v>
                </c:pt>
                <c:pt idx="5">
                  <c:v>26</c:v>
                </c:pt>
                <c:pt idx="6">
                  <c:v>37</c:v>
                </c:pt>
                <c:pt idx="7">
                  <c:v>30</c:v>
                </c:pt>
                <c:pt idx="8">
                  <c:v>35</c:v>
                </c:pt>
                <c:pt idx="9">
                  <c:v>35</c:v>
                </c:pt>
                <c:pt idx="10">
                  <c:v>44</c:v>
                </c:pt>
                <c:pt idx="11">
                  <c:v>40</c:v>
                </c:pt>
                <c:pt idx="12">
                  <c:v>33</c:v>
                </c:pt>
                <c:pt idx="13">
                  <c:v>45</c:v>
                </c:pt>
                <c:pt idx="14">
                  <c:v>33</c:v>
                </c:pt>
                <c:pt idx="15">
                  <c:v>49</c:v>
                </c:pt>
                <c:pt idx="16">
                  <c:v>32</c:v>
                </c:pt>
                <c:pt idx="17">
                  <c:v>42</c:v>
                </c:pt>
                <c:pt idx="18">
                  <c:v>38</c:v>
                </c:pt>
                <c:pt idx="19">
                  <c:v>30</c:v>
                </c:pt>
                <c:pt idx="20">
                  <c:v>34</c:v>
                </c:pt>
                <c:pt idx="21">
                  <c:v>35</c:v>
                </c:pt>
                <c:pt idx="22">
                  <c:v>45</c:v>
                </c:pt>
                <c:pt idx="23">
                  <c:v>38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07A1-4EC6-AA42-275634F43EDC}"/>
            </c:ext>
          </c:extLst>
        </c:ser>
        <c:ser>
          <c:idx val="4"/>
          <c:order val="4"/>
          <c:tx>
            <c:strRef>
              <c:f>ТЗ1!$F$607:$F$608</c:f>
              <c:strCache>
                <c:ptCount val="1"/>
                <c:pt idx="0">
                  <c:v>ул. Щорса, 26/3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cat>
            <c:multiLvlStrRef>
              <c:f>ТЗ1!$A$609:$A$634</c:f>
              <c:multiLvlStrCache>
                <c:ptCount val="24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  <c:pt idx="23">
                    <c:v>23</c:v>
                  </c:pt>
                </c:lvl>
                <c:lvl>
                  <c:pt idx="0">
                    <c:v>01.сен</c:v>
                  </c:pt>
                </c:lvl>
              </c:multiLvlStrCache>
            </c:multiLvlStrRef>
          </c:cat>
          <c:val>
            <c:numRef>
              <c:f>ТЗ1!$F$609:$F$634</c:f>
              <c:numCache>
                <c:formatCode>General</c:formatCode>
                <c:ptCount val="24"/>
                <c:pt idx="0">
                  <c:v>42</c:v>
                </c:pt>
                <c:pt idx="1">
                  <c:v>40</c:v>
                </c:pt>
                <c:pt idx="2">
                  <c:v>54</c:v>
                </c:pt>
                <c:pt idx="3">
                  <c:v>32</c:v>
                </c:pt>
                <c:pt idx="4">
                  <c:v>37</c:v>
                </c:pt>
                <c:pt idx="5">
                  <c:v>48</c:v>
                </c:pt>
                <c:pt idx="6">
                  <c:v>53</c:v>
                </c:pt>
                <c:pt idx="7">
                  <c:v>49</c:v>
                </c:pt>
                <c:pt idx="8">
                  <c:v>45</c:v>
                </c:pt>
                <c:pt idx="9">
                  <c:v>48</c:v>
                </c:pt>
                <c:pt idx="10">
                  <c:v>35</c:v>
                </c:pt>
                <c:pt idx="11">
                  <c:v>46</c:v>
                </c:pt>
                <c:pt idx="12">
                  <c:v>50</c:v>
                </c:pt>
                <c:pt idx="13">
                  <c:v>47</c:v>
                </c:pt>
                <c:pt idx="14">
                  <c:v>47</c:v>
                </c:pt>
                <c:pt idx="15">
                  <c:v>47</c:v>
                </c:pt>
                <c:pt idx="16">
                  <c:v>60</c:v>
                </c:pt>
                <c:pt idx="17">
                  <c:v>56</c:v>
                </c:pt>
                <c:pt idx="18">
                  <c:v>44</c:v>
                </c:pt>
                <c:pt idx="19">
                  <c:v>51</c:v>
                </c:pt>
                <c:pt idx="20">
                  <c:v>46</c:v>
                </c:pt>
                <c:pt idx="21">
                  <c:v>57</c:v>
                </c:pt>
                <c:pt idx="22">
                  <c:v>41</c:v>
                </c:pt>
                <c:pt idx="23">
                  <c:v>44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07A1-4EC6-AA42-275634F43ED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434340640"/>
        <c:axId val="1434342560"/>
      </c:lineChart>
      <c:catAx>
        <c:axId val="143434064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Время,</a:t>
                </a:r>
                <a:r>
                  <a:rPr lang="ru-RU" baseline="0"/>
                  <a:t> ч</a:t>
                </a:r>
                <a:endParaRPr lang="ru-RU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434342560"/>
        <c:crosses val="autoZero"/>
        <c:auto val="1"/>
        <c:lblAlgn val="ctr"/>
        <c:lblOffset val="100"/>
        <c:noMultiLvlLbl val="0"/>
      </c:catAx>
      <c:valAx>
        <c:axId val="14343425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Количество,шт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43434064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[Transaction_list.xlsx]ТЗ1!Сводная таблица12</c:name>
    <c:fmtId val="6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/>
              <a:t>Среднее</a:t>
            </a:r>
            <a:r>
              <a:rPr lang="ru-RU" baseline="0"/>
              <a:t> время транзакции на серверах по часам</a:t>
            </a:r>
            <a:endParaRPr lang="ru-RU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ТЗ1!$B$104:$B$105</c:f>
              <c:strCache>
                <c:ptCount val="1"/>
                <c:pt idx="0">
                  <c:v>сервер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multiLvlStrRef>
              <c:f>ТЗ1!$A$106:$A$131</c:f>
              <c:multiLvlStrCache>
                <c:ptCount val="24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  <c:pt idx="23">
                    <c:v>23</c:v>
                  </c:pt>
                </c:lvl>
                <c:lvl>
                  <c:pt idx="0">
                    <c:v>01.сен</c:v>
                  </c:pt>
                </c:lvl>
              </c:multiLvlStrCache>
            </c:multiLvlStrRef>
          </c:cat>
          <c:val>
            <c:numRef>
              <c:f>ТЗ1!$B$106:$B$131</c:f>
              <c:numCache>
                <c:formatCode>_(* #,##0.00_);_(* \(#,##0.00\);_(* "-"??_);_(@_)</c:formatCode>
                <c:ptCount val="24"/>
                <c:pt idx="0">
                  <c:v>174.11329910948712</c:v>
                </c:pt>
                <c:pt idx="1">
                  <c:v>163.332031625323</c:v>
                </c:pt>
                <c:pt idx="2">
                  <c:v>158.88629693974508</c:v>
                </c:pt>
                <c:pt idx="3">
                  <c:v>229.57233228720725</c:v>
                </c:pt>
                <c:pt idx="4">
                  <c:v>204.44544293638319</c:v>
                </c:pt>
                <c:pt idx="5">
                  <c:v>255.24490202361767</c:v>
                </c:pt>
                <c:pt idx="6">
                  <c:v>218.92225941410288</c:v>
                </c:pt>
                <c:pt idx="7">
                  <c:v>168.05249165442973</c:v>
                </c:pt>
                <c:pt idx="8">
                  <c:v>182.65385282167699</c:v>
                </c:pt>
                <c:pt idx="9">
                  <c:v>175.5822123830622</c:v>
                </c:pt>
                <c:pt idx="10">
                  <c:v>184.1288500232622</c:v>
                </c:pt>
                <c:pt idx="11">
                  <c:v>176.33044847725824</c:v>
                </c:pt>
                <c:pt idx="12">
                  <c:v>167.97717689138176</c:v>
                </c:pt>
                <c:pt idx="13">
                  <c:v>188.69799410281502</c:v>
                </c:pt>
                <c:pt idx="14">
                  <c:v>172.17041899304604</c:v>
                </c:pt>
                <c:pt idx="15">
                  <c:v>181.28263763937866</c:v>
                </c:pt>
                <c:pt idx="16">
                  <c:v>180.51906757451513</c:v>
                </c:pt>
                <c:pt idx="17">
                  <c:v>174.06222983738598</c:v>
                </c:pt>
                <c:pt idx="18">
                  <c:v>179.90113990012239</c:v>
                </c:pt>
                <c:pt idx="19">
                  <c:v>149.36739846598357</c:v>
                </c:pt>
                <c:pt idx="20">
                  <c:v>187.75519163202262</c:v>
                </c:pt>
                <c:pt idx="21">
                  <c:v>182.21170140237993</c:v>
                </c:pt>
                <c:pt idx="22">
                  <c:v>195.63714303996761</c:v>
                </c:pt>
                <c:pt idx="23">
                  <c:v>192.76051621020932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A78-4CFD-B0E2-DE6E476DBE30}"/>
            </c:ext>
          </c:extLst>
        </c:ser>
        <c:ser>
          <c:idx val="1"/>
          <c:order val="1"/>
          <c:tx>
            <c:strRef>
              <c:f>ТЗ1!$C$104:$C$105</c:f>
              <c:strCache>
                <c:ptCount val="1"/>
                <c:pt idx="0">
                  <c:v>сервер 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multiLvlStrRef>
              <c:f>ТЗ1!$A$106:$A$131</c:f>
              <c:multiLvlStrCache>
                <c:ptCount val="24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  <c:pt idx="23">
                    <c:v>23</c:v>
                  </c:pt>
                </c:lvl>
                <c:lvl>
                  <c:pt idx="0">
                    <c:v>01.сен</c:v>
                  </c:pt>
                </c:lvl>
              </c:multiLvlStrCache>
            </c:multiLvlStrRef>
          </c:cat>
          <c:val>
            <c:numRef>
              <c:f>ТЗ1!$C$106:$C$131</c:f>
              <c:numCache>
                <c:formatCode>_(* #,##0.00_);_(* \(#,##0.00\);_(* "-"??_);_(@_)</c:formatCode>
                <c:ptCount val="24"/>
                <c:pt idx="0">
                  <c:v>86.507277672849398</c:v>
                </c:pt>
                <c:pt idx="1">
                  <c:v>88.265350438437309</c:v>
                </c:pt>
                <c:pt idx="2">
                  <c:v>83.669876594917454</c:v>
                </c:pt>
                <c:pt idx="3">
                  <c:v>89.993142603319697</c:v>
                </c:pt>
                <c:pt idx="4">
                  <c:v>87.289175158937923</c:v>
                </c:pt>
                <c:pt idx="5">
                  <c:v>84.794897993013961</c:v>
                </c:pt>
                <c:pt idx="6">
                  <c:v>82.442627421447213</c:v>
                </c:pt>
                <c:pt idx="7">
                  <c:v>87.184424774022773</c:v>
                </c:pt>
                <c:pt idx="8">
                  <c:v>92.712635555468069</c:v>
                </c:pt>
                <c:pt idx="9">
                  <c:v>86.719907649437431</c:v>
                </c:pt>
                <c:pt idx="10">
                  <c:v>81.623381253198858</c:v>
                </c:pt>
                <c:pt idx="11">
                  <c:v>160.37349547664886</c:v>
                </c:pt>
                <c:pt idx="12">
                  <c:v>163.6010618108316</c:v>
                </c:pt>
                <c:pt idx="13">
                  <c:v>162.42156492480248</c:v>
                </c:pt>
                <c:pt idx="14">
                  <c:v>154.95891880287203</c:v>
                </c:pt>
                <c:pt idx="15">
                  <c:v>160.23663775118834</c:v>
                </c:pt>
                <c:pt idx="16">
                  <c:v>83.875950435841716</c:v>
                </c:pt>
                <c:pt idx="17">
                  <c:v>81.199407939276938</c:v>
                </c:pt>
                <c:pt idx="18">
                  <c:v>85.924357140262785</c:v>
                </c:pt>
                <c:pt idx="19">
                  <c:v>98.382577484834101</c:v>
                </c:pt>
                <c:pt idx="20">
                  <c:v>93.898038735185466</c:v>
                </c:pt>
                <c:pt idx="21">
                  <c:v>85.969118771831845</c:v>
                </c:pt>
                <c:pt idx="22">
                  <c:v>79.915881261168678</c:v>
                </c:pt>
                <c:pt idx="23">
                  <c:v>92.20709669441635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A78-4CFD-B0E2-DE6E476DBE30}"/>
            </c:ext>
          </c:extLst>
        </c:ser>
        <c:ser>
          <c:idx val="2"/>
          <c:order val="2"/>
          <c:tx>
            <c:strRef>
              <c:f>ТЗ1!$D$104:$D$105</c:f>
              <c:strCache>
                <c:ptCount val="1"/>
                <c:pt idx="0">
                  <c:v>сервер 3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multiLvlStrRef>
              <c:f>ТЗ1!$A$106:$A$131</c:f>
              <c:multiLvlStrCache>
                <c:ptCount val="24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  <c:pt idx="23">
                    <c:v>23</c:v>
                  </c:pt>
                </c:lvl>
                <c:lvl>
                  <c:pt idx="0">
                    <c:v>01.сен</c:v>
                  </c:pt>
                </c:lvl>
              </c:multiLvlStrCache>
            </c:multiLvlStrRef>
          </c:cat>
          <c:val>
            <c:numRef>
              <c:f>ТЗ1!$D$106:$D$131</c:f>
              <c:numCache>
                <c:formatCode>_(* #,##0.00_);_(* \(#,##0.00\);_(* "-"??_);_(@_)</c:formatCode>
                <c:ptCount val="24"/>
                <c:pt idx="0">
                  <c:v>96.191763466851285</c:v>
                </c:pt>
                <c:pt idx="1">
                  <c:v>98.923699772048337</c:v>
                </c:pt>
                <c:pt idx="2">
                  <c:v>88.127189909573644</c:v>
                </c:pt>
                <c:pt idx="3">
                  <c:v>83.718173347926722</c:v>
                </c:pt>
                <c:pt idx="4">
                  <c:v>96.796966756365322</c:v>
                </c:pt>
                <c:pt idx="5">
                  <c:v>92.736195063437606</c:v>
                </c:pt>
                <c:pt idx="6">
                  <c:v>103.7297684853053</c:v>
                </c:pt>
                <c:pt idx="7">
                  <c:v>71.293763483620509</c:v>
                </c:pt>
                <c:pt idx="8">
                  <c:v>89.874351004670771</c:v>
                </c:pt>
                <c:pt idx="9">
                  <c:v>76.593845298415729</c:v>
                </c:pt>
                <c:pt idx="10">
                  <c:v>75.575645894787158</c:v>
                </c:pt>
                <c:pt idx="11">
                  <c:v>92.981212574522942</c:v>
                </c:pt>
                <c:pt idx="12">
                  <c:v>80.630079174879938</c:v>
                </c:pt>
                <c:pt idx="13">
                  <c:v>79.552150428678615</c:v>
                </c:pt>
                <c:pt idx="14">
                  <c:v>103.82501608226448</c:v>
                </c:pt>
                <c:pt idx="15">
                  <c:v>95.764655700223827</c:v>
                </c:pt>
                <c:pt idx="16">
                  <c:v>85.787115662956154</c:v>
                </c:pt>
                <c:pt idx="17">
                  <c:v>100.35393512942112</c:v>
                </c:pt>
                <c:pt idx="18">
                  <c:v>108.9830854333584</c:v>
                </c:pt>
                <c:pt idx="19">
                  <c:v>131.7967217038225</c:v>
                </c:pt>
                <c:pt idx="20">
                  <c:v>110.87569734809222</c:v>
                </c:pt>
                <c:pt idx="21">
                  <c:v>141.06709118817977</c:v>
                </c:pt>
                <c:pt idx="22">
                  <c:v>131.30673950198232</c:v>
                </c:pt>
                <c:pt idx="23">
                  <c:v>138.6807914526234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A78-4CFD-B0E2-DE6E476DBE3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346486976"/>
        <c:axId val="346493696"/>
      </c:lineChart>
      <c:catAx>
        <c:axId val="346486976"/>
        <c:scaling>
          <c:orientation val="minMax"/>
        </c:scaling>
        <c:delete val="0"/>
        <c:axPos val="b"/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Время, ч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346493696"/>
        <c:crosses val="autoZero"/>
        <c:auto val="1"/>
        <c:lblAlgn val="ctr"/>
        <c:lblOffset val="100"/>
        <c:noMultiLvlLbl val="0"/>
      </c:catAx>
      <c:valAx>
        <c:axId val="34649369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Время,</a:t>
                </a:r>
                <a:r>
                  <a:rPr lang="ru-RU" baseline="0"/>
                  <a:t> сек.</a:t>
                </a:r>
                <a:endParaRPr lang="ru-RU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_(* #,##0.00_);_(* \(#,##0.00\);_(* &quot;-&quot;??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3464869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[Transaction_list.xlsx]ТЗ1!Сводная таблица16</c:name>
    <c:fmtId val="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/>
              <a:t>Среднне время обработки транзакций в зависимости от платежной системы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ТЗ1!$B$177:$B$178</c:f>
              <c:strCache>
                <c:ptCount val="1"/>
                <c:pt idx="0">
                  <c:v>MasterCard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multiLvlStrRef>
              <c:f>ТЗ1!$A$179:$A$204</c:f>
              <c:multiLvlStrCache>
                <c:ptCount val="24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  <c:pt idx="23">
                    <c:v>23</c:v>
                  </c:pt>
                </c:lvl>
                <c:lvl>
                  <c:pt idx="0">
                    <c:v>01.сен</c:v>
                  </c:pt>
                </c:lvl>
              </c:multiLvlStrCache>
            </c:multiLvlStrRef>
          </c:cat>
          <c:val>
            <c:numRef>
              <c:f>ТЗ1!$B$179:$B$204</c:f>
              <c:numCache>
                <c:formatCode>_(* #,##0.00_);_(* \(#,##0.00\);_(* "-"??_);_(@_)</c:formatCode>
                <c:ptCount val="24"/>
                <c:pt idx="0">
                  <c:v>98.004942738997016</c:v>
                </c:pt>
                <c:pt idx="1">
                  <c:v>104.50348966902024</c:v>
                </c:pt>
                <c:pt idx="2">
                  <c:v>106.63820033892989</c:v>
                </c:pt>
                <c:pt idx="3">
                  <c:v>105.07509346974835</c:v>
                </c:pt>
                <c:pt idx="4">
                  <c:v>109.98871595779013</c:v>
                </c:pt>
                <c:pt idx="5">
                  <c:v>136.83009870350361</c:v>
                </c:pt>
                <c:pt idx="6">
                  <c:v>121.09515341243853</c:v>
                </c:pt>
                <c:pt idx="7">
                  <c:v>111.68732674307545</c:v>
                </c:pt>
                <c:pt idx="8">
                  <c:v>122.78747376269446</c:v>
                </c:pt>
                <c:pt idx="9">
                  <c:v>103.87442401393359</c:v>
                </c:pt>
                <c:pt idx="10">
                  <c:v>97.818573527312012</c:v>
                </c:pt>
                <c:pt idx="11">
                  <c:v>152.14204047146569</c:v>
                </c:pt>
                <c:pt idx="12">
                  <c:v>144.9174364897892</c:v>
                </c:pt>
                <c:pt idx="13">
                  <c:v>153.34645864013584</c:v>
                </c:pt>
                <c:pt idx="14">
                  <c:v>161.04652635216459</c:v>
                </c:pt>
                <c:pt idx="15">
                  <c:v>156.1599844214206</c:v>
                </c:pt>
                <c:pt idx="16">
                  <c:v>109.99185800050887</c:v>
                </c:pt>
                <c:pt idx="17">
                  <c:v>108.34328806959093</c:v>
                </c:pt>
                <c:pt idx="18">
                  <c:v>128.29759712965989</c:v>
                </c:pt>
                <c:pt idx="19">
                  <c:v>145.87931551955521</c:v>
                </c:pt>
                <c:pt idx="20">
                  <c:v>153.02663714319351</c:v>
                </c:pt>
                <c:pt idx="21">
                  <c:v>136.87760263384706</c:v>
                </c:pt>
                <c:pt idx="22">
                  <c:v>135.73066582426154</c:v>
                </c:pt>
                <c:pt idx="23">
                  <c:v>160.97159491443375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1DB-41F6-9846-EB502D3F54D7}"/>
            </c:ext>
          </c:extLst>
        </c:ser>
        <c:ser>
          <c:idx val="1"/>
          <c:order val="1"/>
          <c:tx>
            <c:strRef>
              <c:f>ТЗ1!$C$177:$C$178</c:f>
              <c:strCache>
                <c:ptCount val="1"/>
                <c:pt idx="0">
                  <c:v>Visa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multiLvlStrRef>
              <c:f>ТЗ1!$A$179:$A$204</c:f>
              <c:multiLvlStrCache>
                <c:ptCount val="24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  <c:pt idx="23">
                    <c:v>23</c:v>
                  </c:pt>
                </c:lvl>
                <c:lvl>
                  <c:pt idx="0">
                    <c:v>01.сен</c:v>
                  </c:pt>
                </c:lvl>
              </c:multiLvlStrCache>
            </c:multiLvlStrRef>
          </c:cat>
          <c:val>
            <c:numRef>
              <c:f>ТЗ1!$C$179:$C$204</c:f>
              <c:numCache>
                <c:formatCode>_(* #,##0.00_);_(* \(#,##0.00\);_(* "-"??_);_(@_)</c:formatCode>
                <c:ptCount val="24"/>
                <c:pt idx="0">
                  <c:v>113.9331184584354</c:v>
                </c:pt>
                <c:pt idx="1">
                  <c:v>118.51813853942215</c:v>
                </c:pt>
                <c:pt idx="2">
                  <c:v>106.28921470564345</c:v>
                </c:pt>
                <c:pt idx="3">
                  <c:v>122.74794969940558</c:v>
                </c:pt>
                <c:pt idx="4">
                  <c:v>120.90261769535149</c:v>
                </c:pt>
                <c:pt idx="5">
                  <c:v>133.52976570505712</c:v>
                </c:pt>
                <c:pt idx="6">
                  <c:v>125.25377968268003</c:v>
                </c:pt>
                <c:pt idx="7">
                  <c:v>105.52373028282697</c:v>
                </c:pt>
                <c:pt idx="8">
                  <c:v>111.12034194321544</c:v>
                </c:pt>
                <c:pt idx="9">
                  <c:v>110.74600171757665</c:v>
                </c:pt>
                <c:pt idx="10">
                  <c:v>107.80457725307761</c:v>
                </c:pt>
                <c:pt idx="11">
                  <c:v>152.08407824366904</c:v>
                </c:pt>
                <c:pt idx="12">
                  <c:v>149.76138902303879</c:v>
                </c:pt>
                <c:pt idx="13">
                  <c:v>166.64078854600808</c:v>
                </c:pt>
                <c:pt idx="14">
                  <c:v>148.33432658670063</c:v>
                </c:pt>
                <c:pt idx="15">
                  <c:v>159.87263613443992</c:v>
                </c:pt>
                <c:pt idx="16">
                  <c:v>109.55382721005734</c:v>
                </c:pt>
                <c:pt idx="17">
                  <c:v>111.96749041449617</c:v>
                </c:pt>
                <c:pt idx="18">
                  <c:v>113.06782551270364</c:v>
                </c:pt>
                <c:pt idx="19">
                  <c:v>104.15490594127083</c:v>
                </c:pt>
                <c:pt idx="20">
                  <c:v>106.89762774152014</c:v>
                </c:pt>
                <c:pt idx="21">
                  <c:v>112.89883423057135</c:v>
                </c:pt>
                <c:pt idx="22">
                  <c:v>111.73753200564533</c:v>
                </c:pt>
                <c:pt idx="23">
                  <c:v>113.96886988826279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1DB-41F6-9846-EB502D3F54D7}"/>
            </c:ext>
          </c:extLst>
        </c:ser>
        <c:ser>
          <c:idx val="2"/>
          <c:order val="2"/>
          <c:tx>
            <c:strRef>
              <c:f>ТЗ1!$D$177:$D$178</c:f>
              <c:strCache>
                <c:ptCount val="1"/>
                <c:pt idx="0">
                  <c:v>МИР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multiLvlStrRef>
              <c:f>ТЗ1!$A$179:$A$204</c:f>
              <c:multiLvlStrCache>
                <c:ptCount val="24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  <c:pt idx="23">
                    <c:v>23</c:v>
                  </c:pt>
                </c:lvl>
                <c:lvl>
                  <c:pt idx="0">
                    <c:v>01.сен</c:v>
                  </c:pt>
                </c:lvl>
              </c:multiLvlStrCache>
            </c:multiLvlStrRef>
          </c:cat>
          <c:val>
            <c:numRef>
              <c:f>ТЗ1!$D$179:$D$204</c:f>
              <c:numCache>
                <c:formatCode>_(* #,##0.00_);_(* \(#,##0.00\);_(* "-"??_);_(@_)</c:formatCode>
                <c:ptCount val="24"/>
                <c:pt idx="0">
                  <c:v>109.11751151738216</c:v>
                </c:pt>
                <c:pt idx="1">
                  <c:v>90.833559767037755</c:v>
                </c:pt>
                <c:pt idx="2">
                  <c:v>102.10764815244053</c:v>
                </c:pt>
                <c:pt idx="3">
                  <c:v>150.70751505810767</c:v>
                </c:pt>
                <c:pt idx="4">
                  <c:v>129.44478819306607</c:v>
                </c:pt>
                <c:pt idx="5">
                  <c:v>123.9528373095461</c:v>
                </c:pt>
                <c:pt idx="6">
                  <c:v>118.58414526738714</c:v>
                </c:pt>
                <c:pt idx="7">
                  <c:v>90.217914395034313</c:v>
                </c:pt>
                <c:pt idx="8">
                  <c:v>103.99905512665188</c:v>
                </c:pt>
                <c:pt idx="9">
                  <c:v>108.91658192813338</c:v>
                </c:pt>
                <c:pt idx="10">
                  <c:v>117.58953381911851</c:v>
                </c:pt>
                <c:pt idx="11">
                  <c:v>148.02394873945963</c:v>
                </c:pt>
                <c:pt idx="12">
                  <c:v>162.95781722778815</c:v>
                </c:pt>
                <c:pt idx="13">
                  <c:v>146.71497822112948</c:v>
                </c:pt>
                <c:pt idx="14">
                  <c:v>138.1733808879662</c:v>
                </c:pt>
                <c:pt idx="15">
                  <c:v>144.86004912606595</c:v>
                </c:pt>
                <c:pt idx="16">
                  <c:v>117.52828556396391</c:v>
                </c:pt>
                <c:pt idx="17">
                  <c:v>119.6862743133679</c:v>
                </c:pt>
                <c:pt idx="18">
                  <c:v>97.626264247362712</c:v>
                </c:pt>
                <c:pt idx="19">
                  <c:v>108.14739344193815</c:v>
                </c:pt>
                <c:pt idx="20">
                  <c:v>107.86299420726776</c:v>
                </c:pt>
                <c:pt idx="21">
                  <c:v>117.94039858068572</c:v>
                </c:pt>
                <c:pt idx="22">
                  <c:v>103.57064268590041</c:v>
                </c:pt>
                <c:pt idx="23">
                  <c:v>100.77668904725995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21DB-41F6-9846-EB502D3F54D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378702976"/>
        <c:axId val="378704896"/>
      </c:lineChart>
      <c:catAx>
        <c:axId val="378702976"/>
        <c:scaling>
          <c:orientation val="minMax"/>
        </c:scaling>
        <c:delete val="0"/>
        <c:axPos val="b"/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Время, ч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378704896"/>
        <c:crosses val="autoZero"/>
        <c:auto val="1"/>
        <c:lblAlgn val="ctr"/>
        <c:lblOffset val="100"/>
        <c:noMultiLvlLbl val="0"/>
      </c:catAx>
      <c:valAx>
        <c:axId val="37870489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Время,</a:t>
                </a:r>
                <a:r>
                  <a:rPr lang="ru-RU" baseline="0"/>
                  <a:t> сек.</a:t>
                </a:r>
                <a:endParaRPr lang="ru-RU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_(* #,##0.00_);_(* \(#,##0.00\);_(* &quot;-&quot;??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3787029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[Transaction_list2.xlsx]Задание 1!Сводная таблица3</c:name>
    <c:fmtId val="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sz="1400" b="0" i="0" u="none" strike="noStrike" kern="1200" spc="0" baseline="0">
                <a:solidFill>
                  <a:srgbClr val="000000">
                    <a:lumMod val="65000"/>
                    <a:lumOff val="35000"/>
                  </a:srgbClr>
                </a:solidFill>
              </a:rPr>
              <a:t>Средняя скорость и количество транзакций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'Задание 1'!$B$40</c:f>
              <c:strCache>
                <c:ptCount val="1"/>
                <c:pt idx="0">
                  <c:v>среднее время проведения транзакции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'Задание 1'!$A$41:$A$44</c:f>
              <c:strCache>
                <c:ptCount val="3"/>
                <c:pt idx="0">
                  <c:v>5</c:v>
                </c:pt>
                <c:pt idx="1">
                  <c:v>6</c:v>
                </c:pt>
                <c:pt idx="2">
                  <c:v>7</c:v>
                </c:pt>
              </c:strCache>
            </c:strRef>
          </c:cat>
          <c:val>
            <c:numRef>
              <c:f>'Задание 1'!$B$41:$B$44</c:f>
              <c:numCache>
                <c:formatCode>0.00</c:formatCode>
                <c:ptCount val="3"/>
                <c:pt idx="0">
                  <c:v>139.92796609547162</c:v>
                </c:pt>
                <c:pt idx="1">
                  <c:v>98.869090915445909</c:v>
                </c:pt>
                <c:pt idx="2">
                  <c:v>97.499005949665346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9F8-4144-8350-D25FF5085FB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83370479"/>
        <c:axId val="1083370959"/>
      </c:barChart>
      <c:lineChart>
        <c:grouping val="standard"/>
        <c:varyColors val="0"/>
        <c:ser>
          <c:idx val="1"/>
          <c:order val="1"/>
          <c:tx>
            <c:strRef>
              <c:f>'Задание 1'!$C$40</c:f>
              <c:strCache>
                <c:ptCount val="1"/>
                <c:pt idx="0">
                  <c:v>Количество транзакций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'Задание 1'!$A$41:$A$44</c:f>
              <c:strCache>
                <c:ptCount val="3"/>
                <c:pt idx="0">
                  <c:v>5</c:v>
                </c:pt>
                <c:pt idx="1">
                  <c:v>6</c:v>
                </c:pt>
                <c:pt idx="2">
                  <c:v>7</c:v>
                </c:pt>
              </c:strCache>
            </c:strRef>
          </c:cat>
          <c:val>
            <c:numRef>
              <c:f>'Задание 1'!$C$41:$C$44</c:f>
              <c:numCache>
                <c:formatCode>General</c:formatCode>
                <c:ptCount val="3"/>
                <c:pt idx="0">
                  <c:v>472</c:v>
                </c:pt>
                <c:pt idx="1">
                  <c:v>550</c:v>
                </c:pt>
                <c:pt idx="2">
                  <c:v>503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9F8-4144-8350-D25FF5085FB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49043167"/>
        <c:axId val="1149043647"/>
      </c:lineChart>
      <c:catAx>
        <c:axId val="1083370479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000" b="0" i="0" u="none" strike="noStrike" kern="1200" baseline="0">
                    <a:solidFill>
                      <a:srgbClr val="000000">
                        <a:lumMod val="65000"/>
                        <a:lumOff val="35000"/>
                      </a:srgbClr>
                    </a:solidFill>
                  </a:rPr>
                  <a:t>День (сенябрь)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083370959"/>
        <c:crosses val="autoZero"/>
        <c:auto val="1"/>
        <c:lblAlgn val="ctr"/>
        <c:lblOffset val="100"/>
        <c:noMultiLvlLbl val="0"/>
      </c:catAx>
      <c:valAx>
        <c:axId val="108337095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000" b="0" i="0" u="none" strike="noStrike" kern="1200" baseline="0">
                    <a:solidFill>
                      <a:srgbClr val="000000">
                        <a:lumMod val="65000"/>
                        <a:lumOff val="35000"/>
                      </a:srgbClr>
                    </a:solidFill>
                  </a:rPr>
                  <a:t>Время, сек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083370479"/>
        <c:crosses val="autoZero"/>
        <c:crossBetween val="between"/>
      </c:valAx>
      <c:valAx>
        <c:axId val="1149043647"/>
        <c:scaling>
          <c:orientation val="minMax"/>
          <c:min val="0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000" b="0" i="0" u="none" strike="noStrike" kern="1200" baseline="0">
                    <a:solidFill>
                      <a:srgbClr val="000000">
                        <a:lumMod val="65000"/>
                        <a:lumOff val="35000"/>
                      </a:srgbClr>
                    </a:solidFill>
                  </a:rPr>
                  <a:t>Количество,шт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149043167"/>
        <c:crosses val="max"/>
        <c:crossBetween val="between"/>
      </c:valAx>
      <c:catAx>
        <c:axId val="1149043167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149043647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[Transaction_list2.xlsx]Задание 1!Сводная таблица2</c:name>
    <c:fmtId val="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/>
              <a:t>Средняя</a:t>
            </a:r>
            <a:r>
              <a:rPr lang="ru-RU" baseline="0"/>
              <a:t> скорость и количество транзакций</a:t>
            </a:r>
            <a:endParaRPr lang="ru-RU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'Задание 1'!$B$22</c:f>
              <c:strCache>
                <c:ptCount val="1"/>
                <c:pt idx="0">
                  <c:v>среднее время проведения транзакции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'Задание 1'!$A$23:$A$26</c:f>
              <c:strCache>
                <c:ptCount val="3"/>
                <c:pt idx="0">
                  <c:v>5</c:v>
                </c:pt>
                <c:pt idx="1">
                  <c:v>6</c:v>
                </c:pt>
                <c:pt idx="2">
                  <c:v>7</c:v>
                </c:pt>
              </c:strCache>
            </c:strRef>
          </c:cat>
          <c:val>
            <c:numRef>
              <c:f>'Задание 1'!$B$23:$B$26</c:f>
              <c:numCache>
                <c:formatCode>0.00</c:formatCode>
                <c:ptCount val="3"/>
                <c:pt idx="0">
                  <c:v>64.986666636541486</c:v>
                </c:pt>
                <c:pt idx="1">
                  <c:v>69.70238094259652</c:v>
                </c:pt>
                <c:pt idx="2">
                  <c:v>114.07432432421734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61B-4779-A7E8-3A666F35B70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93376223"/>
        <c:axId val="993377663"/>
      </c:barChart>
      <c:lineChart>
        <c:grouping val="standard"/>
        <c:varyColors val="0"/>
        <c:ser>
          <c:idx val="1"/>
          <c:order val="1"/>
          <c:tx>
            <c:strRef>
              <c:f>'Задание 1'!$C$22</c:f>
              <c:strCache>
                <c:ptCount val="1"/>
                <c:pt idx="0">
                  <c:v>Количество транзакций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'Задание 1'!$A$23:$A$26</c:f>
              <c:strCache>
                <c:ptCount val="3"/>
                <c:pt idx="0">
                  <c:v>5</c:v>
                </c:pt>
                <c:pt idx="1">
                  <c:v>6</c:v>
                </c:pt>
                <c:pt idx="2">
                  <c:v>7</c:v>
                </c:pt>
              </c:strCache>
            </c:strRef>
          </c:cat>
          <c:val>
            <c:numRef>
              <c:f>'Задание 1'!$C$23:$C$26</c:f>
              <c:numCache>
                <c:formatCode>General</c:formatCode>
                <c:ptCount val="3"/>
                <c:pt idx="0">
                  <c:v>150</c:v>
                </c:pt>
                <c:pt idx="1">
                  <c:v>168</c:v>
                </c:pt>
                <c:pt idx="2">
                  <c:v>148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61B-4779-A7E8-3A666F35B70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15257279"/>
        <c:axId val="715256799"/>
      </c:lineChart>
      <c:catAx>
        <c:axId val="993376223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День</a:t>
                </a:r>
                <a:r>
                  <a:rPr lang="ru-RU" baseline="0"/>
                  <a:t> (сенябрь)</a:t>
                </a:r>
                <a:endParaRPr lang="ru-RU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993377663"/>
        <c:crosses val="autoZero"/>
        <c:auto val="1"/>
        <c:lblAlgn val="ctr"/>
        <c:lblOffset val="100"/>
        <c:noMultiLvlLbl val="0"/>
      </c:catAx>
      <c:valAx>
        <c:axId val="99337766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Время, сек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993376223"/>
        <c:crosses val="autoZero"/>
        <c:crossBetween val="between"/>
      </c:valAx>
      <c:valAx>
        <c:axId val="715256799"/>
        <c:scaling>
          <c:orientation val="minMax"/>
          <c:min val="0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Количество,шт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715257279"/>
        <c:crosses val="max"/>
        <c:crossBetween val="between"/>
      </c:valAx>
      <c:catAx>
        <c:axId val="715257279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715256799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[Transaction_list2.xlsx]Задание 1!Сводная таблица1</c:name>
    <c:fmtId val="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/>
              <a:t>Средняя</a:t>
            </a:r>
            <a:r>
              <a:rPr lang="ru-RU" baseline="0"/>
              <a:t> скорость транзакции</a:t>
            </a:r>
            <a:endParaRPr lang="ru-RU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'Задание 1'!$B$6</c:f>
              <c:strCache>
                <c:ptCount val="1"/>
                <c:pt idx="0">
                  <c:v>Итог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'Задание 1'!$A$7:$A$9</c:f>
              <c:strCache>
                <c:ptCount val="2"/>
                <c:pt idx="0">
                  <c:v>6</c:v>
                </c:pt>
                <c:pt idx="1">
                  <c:v>7</c:v>
                </c:pt>
              </c:strCache>
            </c:strRef>
          </c:cat>
          <c:val>
            <c:numRef>
              <c:f>'Задание 1'!$B$7:$B$9</c:f>
              <c:numCache>
                <c:formatCode>0.00</c:formatCode>
                <c:ptCount val="2"/>
                <c:pt idx="0">
                  <c:v>230.29468595860121</c:v>
                </c:pt>
                <c:pt idx="1">
                  <c:v>186.33333329583846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022-4BE5-8341-A6F59334320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149036447"/>
        <c:axId val="1149039327"/>
      </c:barChart>
      <c:catAx>
        <c:axId val="1149036447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День</a:t>
                </a:r>
                <a:r>
                  <a:rPr lang="ru-RU" baseline="0"/>
                  <a:t> (сенября)</a:t>
                </a:r>
                <a:endParaRPr lang="ru-RU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149039327"/>
        <c:crosses val="autoZero"/>
        <c:auto val="1"/>
        <c:lblAlgn val="ctr"/>
        <c:lblOffset val="100"/>
        <c:noMultiLvlLbl val="0"/>
      </c:catAx>
      <c:valAx>
        <c:axId val="114903932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Врнмя, сек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14903644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[Transaction_list2.xlsx]Задание 2!Сводная таблица4</c:name>
    <c:fmtId val="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/>
              <a:t>Средний чек и количество транзакций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'Задание 2'!$B$3</c:f>
              <c:strCache>
                <c:ptCount val="1"/>
                <c:pt idx="0">
                  <c:v>Средний чек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'Задание 2'!$A$4:$A$7</c:f>
              <c:strCache>
                <c:ptCount val="3"/>
                <c:pt idx="0">
                  <c:v>5</c:v>
                </c:pt>
                <c:pt idx="1">
                  <c:v>6</c:v>
                </c:pt>
                <c:pt idx="2">
                  <c:v>7</c:v>
                </c:pt>
              </c:strCache>
            </c:strRef>
          </c:cat>
          <c:val>
            <c:numRef>
              <c:f>'Задание 2'!$B$4:$B$7</c:f>
              <c:numCache>
                <c:formatCode>#\ ##0\ "₽"</c:formatCode>
                <c:ptCount val="3"/>
                <c:pt idx="0">
                  <c:v>18518.769268774704</c:v>
                </c:pt>
                <c:pt idx="1">
                  <c:v>18358.344132328471</c:v>
                </c:pt>
                <c:pt idx="2">
                  <c:v>19769.976126529393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FA5-4E49-8F99-74ED9746BA8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80160047"/>
        <c:axId val="1080162447"/>
      </c:barChart>
      <c:lineChart>
        <c:grouping val="standard"/>
        <c:varyColors val="0"/>
        <c:ser>
          <c:idx val="1"/>
          <c:order val="1"/>
          <c:tx>
            <c:strRef>
              <c:f>'Задание 2'!$C$3</c:f>
              <c:strCache>
                <c:ptCount val="1"/>
                <c:pt idx="0">
                  <c:v>Количество транзакций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'Задание 2'!$A$4:$A$7</c:f>
              <c:strCache>
                <c:ptCount val="3"/>
                <c:pt idx="0">
                  <c:v>5</c:v>
                </c:pt>
                <c:pt idx="1">
                  <c:v>6</c:v>
                </c:pt>
                <c:pt idx="2">
                  <c:v>7</c:v>
                </c:pt>
              </c:strCache>
            </c:strRef>
          </c:cat>
          <c:val>
            <c:numRef>
              <c:f>'Задание 2'!$C$4:$C$7</c:f>
              <c:numCache>
                <c:formatCode>General</c:formatCode>
                <c:ptCount val="3"/>
                <c:pt idx="0">
                  <c:v>10120</c:v>
                </c:pt>
                <c:pt idx="1">
                  <c:v>10217</c:v>
                </c:pt>
                <c:pt idx="2">
                  <c:v>10053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FA5-4E49-8F99-74ED9746BA8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929961007"/>
        <c:axId val="929958607"/>
      </c:lineChart>
      <c:catAx>
        <c:axId val="1080160047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День (сенябрь)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080162447"/>
        <c:crosses val="autoZero"/>
        <c:auto val="1"/>
        <c:lblAlgn val="ctr"/>
        <c:lblOffset val="100"/>
        <c:noMultiLvlLbl val="0"/>
      </c:catAx>
      <c:valAx>
        <c:axId val="1080162447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Ссредний</a:t>
                </a:r>
                <a:r>
                  <a:rPr lang="ru-RU" baseline="0"/>
                  <a:t> чек,руб</a:t>
                </a:r>
                <a:endParaRPr lang="ru-RU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#\ ##0\ &quot;₽&quot;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080160047"/>
        <c:crosses val="autoZero"/>
        <c:crossBetween val="between"/>
      </c:valAx>
      <c:valAx>
        <c:axId val="929958607"/>
        <c:scaling>
          <c:orientation val="minMax"/>
          <c:min val="0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Количество,шт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929961007"/>
        <c:crosses val="max"/>
        <c:crossBetween val="between"/>
      </c:valAx>
      <c:catAx>
        <c:axId val="929961007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929958607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/>
              <a:t>Выручка  от проведения акции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647D-4121-908C-4FCCA11F5AA2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647D-4121-908C-4FCCA11F5AA2}"/>
              </c:ext>
            </c:extLst>
          </c:dPt>
          <c:cat>
            <c:strRef>
              <c:f>'Задание 2'!$E$8:$E$9</c:f>
              <c:strCache>
                <c:ptCount val="2"/>
                <c:pt idx="0">
                  <c:v>Затраты на акцию</c:v>
                </c:pt>
                <c:pt idx="1">
                  <c:v>Прибыль от акции</c:v>
                </c:pt>
              </c:strCache>
            </c:strRef>
          </c:cat>
          <c:val>
            <c:numRef>
              <c:f>'Задание 2'!$F$8:$F$9</c:f>
              <c:numCache>
                <c:formatCode>#\ ##0.00\ "₽"</c:formatCode>
                <c:ptCount val="2"/>
                <c:pt idx="0">
                  <c:v>2418500</c:v>
                </c:pt>
                <c:pt idx="1">
                  <c:v>10970105.610414516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47D-4121-908C-4FCCA11F5AA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[Transaction_list2.xlsx]ТЗ!Сводная таблица2</c:name>
    <c:fmtId val="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/>
              <a:t>Суммарная</a:t>
            </a:r>
            <a:r>
              <a:rPr lang="ru-RU" baseline="0"/>
              <a:t> экономия клиентов по уровню лоялности </a:t>
            </a:r>
            <a:r>
              <a:rPr lang="ru-RU"/>
              <a:t>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ТЗ!$B$13</c:f>
              <c:strCache>
                <c:ptCount val="1"/>
                <c:pt idx="0">
                  <c:v>Итог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ТЗ!$A$14:$A$18</c:f>
              <c:strCach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strCache>
            </c:strRef>
          </c:cat>
          <c:val>
            <c:numRef>
              <c:f>ТЗ!$B$14:$B$18</c:f>
              <c:numCache>
                <c:formatCode>_("₽"* #,##0.00_);_("₽"* \(#,##0.00\);_("₽"* "-"??_);_(@_)</c:formatCode>
                <c:ptCount val="4"/>
                <c:pt idx="0">
                  <c:v>244869.60859999974</c:v>
                </c:pt>
                <c:pt idx="1">
                  <c:v>718949.45110000006</c:v>
                </c:pt>
                <c:pt idx="2">
                  <c:v>1226936.2968000013</c:v>
                </c:pt>
                <c:pt idx="3">
                  <c:v>1703133.4768999999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255-4231-9BB1-8E2A7B9A61C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202685680"/>
        <c:axId val="1202683760"/>
      </c:barChart>
      <c:catAx>
        <c:axId val="120268568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Уровень</a:t>
                </a:r>
                <a:r>
                  <a:rPr lang="ru-RU" baseline="0"/>
                  <a:t> лоялности</a:t>
                </a:r>
                <a:endParaRPr lang="ru-RU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202683760"/>
        <c:crosses val="autoZero"/>
        <c:auto val="1"/>
        <c:lblAlgn val="ctr"/>
        <c:lblOffset val="100"/>
        <c:noMultiLvlLbl val="0"/>
      </c:catAx>
      <c:valAx>
        <c:axId val="1202683760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Экономя, уруб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_(&quot;₽&quot;* #,##0.00_);_(&quot;₽&quot;* \(#,##0.00\);_(&quot;₽&quot;* &quot;-&quot;??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20268568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246076-4561-2820-A32B-A716FF0549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45BF476-2A5E-4C44-58AA-9B6FD25278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ECEB5E7-8F70-32B3-A146-FC3BFC9DD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CF36C-4371-44D2-BFAD-F8BA4479569B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314AA76-17F7-E61D-8FD9-C19A47A23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68D0BF1-AFF7-CD5A-864C-7A45C1166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773ED-4860-4050-B08C-826B535B17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07930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37B5C0-1F72-1CD9-FD63-8C76E6B60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91B0938-D705-E5AE-2A63-5DAFBDC479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9B367DD-C129-284A-80CB-6EFB8724B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CF36C-4371-44D2-BFAD-F8BA4479569B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2053DC4-FC96-7FA0-B2E5-93577F423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5160A02-17A9-BC16-38AF-13EEA14F1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773ED-4860-4050-B08C-826B535B17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45748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9ADBA6-7467-EE4F-7A44-8D34A6E99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006050C-D0C4-3129-E1EA-478EB8301F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04F76A8-D5E6-0F24-C8E4-4667A6D6D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CF36C-4371-44D2-BFAD-F8BA4479569B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834B7ED-07E7-3566-E671-D49B6BF45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A98CD32-8320-5AD7-DEBE-6DB687902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773ED-4860-4050-B08C-826B535B17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91090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FAE691-CA79-3B42-DA8A-7F26894EE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B03BC79-91FE-F4B3-82F5-5AAD70B519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182764A-5D71-5F91-DF82-3E0CEA9A5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99611F5-D59A-6D8E-1324-AB17219BE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CF36C-4371-44D2-BFAD-F8BA4479569B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F746D0E-306D-36A6-9B1F-09BD4D335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658C908-B89F-3B2B-0D2C-19D06A297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773ED-4860-4050-B08C-826B535B17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7527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C4EE0A-0E0D-ED1F-A4C1-F5B762000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80D15F3-C2EB-49F1-80C0-3F83FCA75D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7436F88-EBE9-35E5-45DC-06DF6FB143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EE6850DF-B697-C2AF-0304-52DB4FC022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45CB248-8746-D448-24C9-6951286100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5346708-A776-DFCE-7019-764A601AF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CF36C-4371-44D2-BFAD-F8BA4479569B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F41FEC5A-2A17-3A75-E82A-847FCF210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C808B0E0-605B-3315-DEA6-883D9774F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773ED-4860-4050-B08C-826B535B17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99574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1BFEF4-717B-2738-62D3-C7BD8E4A6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212B110C-D452-E4A9-BE8C-3DB41325A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CF36C-4371-44D2-BFAD-F8BA4479569B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7C2F07A-F740-3D37-0E82-F34C06766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6C50A73-5476-0F85-DCF5-76B5EC803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773ED-4860-4050-B08C-826B535B17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80063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C7AA2646-E04D-05FB-048E-9F1F338E0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CF36C-4371-44D2-BFAD-F8BA4479569B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F33C578-DDE2-E908-BF59-6DFF6EC49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A4C1D53-E8F0-44F8-9E79-F2526D9AD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773ED-4860-4050-B08C-826B535B17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02989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C9099C-F249-C180-74F5-C7C4F779A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59B8046-7FFC-9ED9-B6F4-326E1B7826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00D460C-C583-A81E-2AD6-3855E5D5DB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BCE7623-FE3C-BA25-FA03-20BC44ED6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CF36C-4371-44D2-BFAD-F8BA4479569B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C0C8785-4964-E097-C21F-ED682EFC0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33670AD-9674-D9D7-8B10-5B4FD3A30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773ED-4860-4050-B08C-826B535B17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2616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429ABC-A051-847E-341E-92CF115F93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AD76A99C-5C37-EF75-72B2-65943F9615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F7B7132-980F-C21B-036D-FCE14B536E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1CD2116-B4A3-F4E7-DF4D-08EC7A63C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CF36C-4371-44D2-BFAD-F8BA4479569B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6B4230A-7397-A44A-8D3F-DC78C71DA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DB52EB6-1AE2-A417-FA38-AFC409185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773ED-4860-4050-B08C-826B535B17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9221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EC342C-6BAC-F195-5599-E74FA7C85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6ABD9B0-65D2-3F1F-DCFA-EBD992E810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9674C7C-1F83-A231-A0FC-18A599BE5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CF36C-4371-44D2-BFAD-F8BA4479569B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153DBB8-1D88-F04F-CE23-CEC3CDA5D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0E63A1C-0C8E-9B0B-51FD-5B91F6F10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773ED-4860-4050-B08C-826B535B17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80107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1F1E4E2B-124C-4D48-1392-FBA248176F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8C070FB-C56E-10B3-926D-1CFB9D70F0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4B5116D-CDA3-DBE3-BDEF-70F1812F0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CF36C-4371-44D2-BFAD-F8BA4479569B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B921006-B02D-93C8-3BC1-E6AFD6DD9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C39B3FC-904D-6E8C-FA44-BC8F55AFB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773ED-4860-4050-B08C-826B535B17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10895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05D7E0-EF80-C211-FDF5-26ECADEFED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F3AE7B9-B5BF-137A-1F9C-14B879408D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FB1F184-FABA-B241-A486-ECE88059D6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9CF36C-4371-44D2-BFAD-F8BA4479569B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D8F3974-4212-4134-85C0-EFC88DB448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604F14A-2940-3BF4-69E3-EB6CF7E47B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B773ED-4860-4050-B08C-826B535B17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39252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4" Type="http://schemas.openxmlformats.org/officeDocument/2006/relationships/chart" Target="../charts/char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Relationship Id="rId4" Type="http://schemas.openxmlformats.org/officeDocument/2006/relationships/chart" Target="../charts/char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Relationship Id="rId4" Type="http://schemas.openxmlformats.org/officeDocument/2006/relationships/chart" Target="../charts/char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Relationship Id="rId4" Type="http://schemas.openxmlformats.org/officeDocument/2006/relationships/chart" Target="../charts/char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6.xml"/><Relationship Id="rId4" Type="http://schemas.openxmlformats.org/officeDocument/2006/relationships/chart" Target="../charts/char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7.xml"/><Relationship Id="rId4" Type="http://schemas.openxmlformats.org/officeDocument/2006/relationships/chart" Target="../charts/char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4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5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6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7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2.xml"/><Relationship Id="rId4" Type="http://schemas.openxmlformats.org/officeDocument/2006/relationships/chart" Target="../charts/chart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9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1000">
              <a:schemeClr val="accent1">
                <a:lumMod val="0"/>
                <a:lumOff val="100000"/>
                <a:alpha val="51000"/>
              </a:schemeClr>
            </a:gs>
            <a:gs pos="99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20000"/>
                <a:lumOff val="80000"/>
              </a:schemeClr>
            </a:gs>
            <a:gs pos="92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FDC323-3066-E3B3-85C3-805A2116776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/>
              <a:t>Отчет о анализе работы торгового ритейлера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BBB7C54-FAC0-988F-8ACE-3F2FB166AD3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  <a:p>
            <a:r>
              <a:rPr lang="ru-RU"/>
              <a:t>В период </a:t>
            </a:r>
          </a:p>
          <a:p>
            <a:r>
              <a:rPr lang="ru-RU"/>
              <a:t> с 01-07 сентября 2023 года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73412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692"/>
    </mc:Choice>
    <mc:Fallback xmlns="">
      <p:transition spd="slow" advTm="6692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">
              <a:schemeClr val="accent1">
                <a:lumMod val="0"/>
                <a:lumOff val="100000"/>
                <a:alpha val="51000"/>
              </a:schemeClr>
            </a:gs>
            <a:gs pos="99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20000"/>
                <a:lumOff val="80000"/>
              </a:schemeClr>
            </a:gs>
            <a:gs pos="92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910CAA-FDC2-E574-6573-6D0D1F1C9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just"/>
            <a:r>
              <a:rPr lang="ru-RU" sz="2400" dirty="0"/>
              <a:t>           </a:t>
            </a:r>
            <a:r>
              <a:rPr lang="ru-RU" sz="2000" dirty="0"/>
              <a:t>3 сентября открытие торговой точка на ул. Чертановская 20к2 </a:t>
            </a:r>
            <a:r>
              <a:rPr lang="en-US" sz="2000" dirty="0"/>
              <a:t>–</a:t>
            </a:r>
            <a:br>
              <a:rPr lang="ru-RU" sz="2000" dirty="0"/>
            </a:br>
            <a:r>
              <a:rPr lang="ru-RU" sz="2000" dirty="0"/>
              <a:t>                                                  </a:t>
            </a:r>
            <a:r>
              <a:rPr lang="en-US" sz="2000" dirty="0"/>
              <a:t> </a:t>
            </a:r>
            <a:r>
              <a:rPr lang="ru-RU" sz="2000" dirty="0"/>
              <a:t>снижение транзакций на  Симферопольском б-ре 22</a:t>
            </a:r>
          </a:p>
        </p:txBody>
      </p:sp>
      <p:graphicFrame>
        <p:nvGraphicFramePr>
          <p:cNvPr id="4" name="Объект 3" descr="Количество транзакций по торговым точкам в абсолютных значения&#10;&#10; ">
            <a:extLst>
              <a:ext uri="{FF2B5EF4-FFF2-40B4-BE49-F238E27FC236}">
                <a16:creationId xmlns:a16="http://schemas.microsoft.com/office/drawing/2014/main" id="{0FBE4A15-1974-F777-DDF3-424991A9A51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87891561"/>
              </p:ext>
            </p:extLst>
          </p:nvPr>
        </p:nvGraphicFramePr>
        <p:xfrm>
          <a:off x="838200" y="1825624"/>
          <a:ext cx="5257800" cy="39595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Объект 3">
            <a:extLst>
              <a:ext uri="{FF2B5EF4-FFF2-40B4-BE49-F238E27FC236}">
                <a16:creationId xmlns:a16="http://schemas.microsoft.com/office/drawing/2014/main" id="{C0AFB724-05B8-E038-CB90-F89F71BB636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01089773"/>
              </p:ext>
            </p:extLst>
          </p:nvPr>
        </p:nvGraphicFramePr>
        <p:xfrm>
          <a:off x="6032625" y="1955549"/>
          <a:ext cx="5257800" cy="36757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41505769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000" advTm="39736"/>
    </mc:Choice>
    <mc:Fallback xmlns="">
      <p:transition spd="slow" advTm="39736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">
              <a:schemeClr val="accent1">
                <a:lumMod val="0"/>
                <a:lumOff val="100000"/>
                <a:alpha val="51000"/>
              </a:schemeClr>
            </a:gs>
            <a:gs pos="99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20000"/>
                <a:lumOff val="80000"/>
              </a:schemeClr>
            </a:gs>
            <a:gs pos="92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D2557E-CE0A-220A-4153-CF67C15AF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19893"/>
            <a:ext cx="10515600" cy="1325563"/>
          </a:xfrm>
        </p:spPr>
        <p:txBody>
          <a:bodyPr>
            <a:normAutofit/>
          </a:bodyPr>
          <a:lstStyle/>
          <a:p>
            <a:pPr algn="just"/>
            <a:r>
              <a:rPr lang="ru-RU" sz="2000" dirty="0"/>
              <a:t>            Открытии торговой точки на ул. Чертановская,  20к2, -</a:t>
            </a:r>
            <a:r>
              <a:rPr lang="en-US" sz="2000" dirty="0"/>
              <a:t> </a:t>
            </a:r>
            <a:r>
              <a:rPr lang="ru-RU" sz="2000" dirty="0"/>
              <a:t> возросла нагрузка на  сервер №3. Для снижения нагрузки на </a:t>
            </a:r>
            <a:r>
              <a:rPr lang="ru-RU" sz="2200" dirty="0"/>
              <a:t>сервер №3 привязать торговую точку на Ракетный б-р, 14к1 к серверу №1 </a:t>
            </a:r>
          </a:p>
        </p:txBody>
      </p:sp>
      <p:graphicFrame>
        <p:nvGraphicFramePr>
          <p:cNvPr id="7" name="Объект 6">
            <a:extLst>
              <a:ext uri="{FF2B5EF4-FFF2-40B4-BE49-F238E27FC236}">
                <a16:creationId xmlns:a16="http://schemas.microsoft.com/office/drawing/2014/main" id="{816285A2-5341-BD77-BB5B-49060ED26EF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67408298"/>
              </p:ext>
            </p:extLst>
          </p:nvPr>
        </p:nvGraphicFramePr>
        <p:xfrm>
          <a:off x="838200" y="1825624"/>
          <a:ext cx="5257800" cy="35249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Диаграмма 7">
            <a:extLst>
              <a:ext uri="{FF2B5EF4-FFF2-40B4-BE49-F238E27FC236}">
                <a16:creationId xmlns:a16="http://schemas.microsoft.com/office/drawing/2014/main" id="{C729657A-ED88-AD6A-7178-22EA6796834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96973766"/>
              </p:ext>
            </p:extLst>
          </p:nvPr>
        </p:nvGraphicFramePr>
        <p:xfrm>
          <a:off x="6096000" y="1905793"/>
          <a:ext cx="5257800" cy="34448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5162678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000" advTm="27127"/>
    </mc:Choice>
    <mc:Fallback xmlns="">
      <p:transition spd="slow" advTm="27127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">
              <a:schemeClr val="accent1">
                <a:lumMod val="0"/>
                <a:lumOff val="100000"/>
                <a:alpha val="51000"/>
              </a:schemeClr>
            </a:gs>
            <a:gs pos="99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20000"/>
                <a:lumOff val="80000"/>
              </a:schemeClr>
            </a:gs>
            <a:gs pos="92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B472D8-C146-F0F1-62A3-CC4D7FEFF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2000" dirty="0"/>
              <a:t>Изменение нагрузки на серверы после изменения привязки</a:t>
            </a: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B765C7A2-A698-84E6-9419-5381DBA4BD8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60557683"/>
              </p:ext>
            </p:extLst>
          </p:nvPr>
        </p:nvGraphicFramePr>
        <p:xfrm>
          <a:off x="838200" y="1825625"/>
          <a:ext cx="5257800" cy="3860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Диаграмма 4">
            <a:extLst>
              <a:ext uri="{FF2B5EF4-FFF2-40B4-BE49-F238E27FC236}">
                <a16:creationId xmlns:a16="http://schemas.microsoft.com/office/drawing/2014/main" id="{67B8EB04-D1F1-1566-24FE-BF83C042DF0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85673864"/>
              </p:ext>
            </p:extLst>
          </p:nvPr>
        </p:nvGraphicFramePr>
        <p:xfrm>
          <a:off x="6095999" y="1825625"/>
          <a:ext cx="5257799" cy="3860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1312567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000" advTm="24939"/>
    </mc:Choice>
    <mc:Fallback xmlns="">
      <p:transition spd="slow" advTm="24939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">
              <a:schemeClr val="accent1">
                <a:lumMod val="0"/>
                <a:lumOff val="100000"/>
                <a:alpha val="51000"/>
              </a:schemeClr>
            </a:gs>
            <a:gs pos="99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20000"/>
                <a:lumOff val="80000"/>
              </a:schemeClr>
            </a:gs>
            <a:gs pos="92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8AC7C4-20B2-F293-1BF5-26C951F7D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2000" dirty="0"/>
              <a:t>Доли транзакций на кассах самообслуживания (КСО)</a:t>
            </a: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F62D2371-97A8-9E03-6D69-2B1DE0F17AF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64633352"/>
              </p:ext>
            </p:extLst>
          </p:nvPr>
        </p:nvGraphicFramePr>
        <p:xfrm>
          <a:off x="838200" y="1825626"/>
          <a:ext cx="5257800" cy="390435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Диаграмма 4">
            <a:extLst>
              <a:ext uri="{FF2B5EF4-FFF2-40B4-BE49-F238E27FC236}">
                <a16:creationId xmlns:a16="http://schemas.microsoft.com/office/drawing/2014/main" id="{0D3DA8D8-5C49-F69C-22E2-1B16231E69C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16219020"/>
              </p:ext>
            </p:extLst>
          </p:nvPr>
        </p:nvGraphicFramePr>
        <p:xfrm>
          <a:off x="6096000" y="1825625"/>
          <a:ext cx="5257800" cy="390435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6163876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000" advTm="41368"/>
    </mc:Choice>
    <mc:Fallback xmlns="">
      <p:transition spd="slow" advTm="41368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">
              <a:schemeClr val="accent1">
                <a:lumMod val="0"/>
                <a:lumOff val="100000"/>
                <a:alpha val="51000"/>
              </a:schemeClr>
            </a:gs>
            <a:gs pos="99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20000"/>
                <a:lumOff val="80000"/>
              </a:schemeClr>
            </a:gs>
            <a:gs pos="92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C3DEA1-5444-E932-CDAD-734B57CD2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2000" dirty="0"/>
              <a:t>Увеличение времени транзакций с увеличение доли транзакций через КСО.</a:t>
            </a:r>
            <a:br>
              <a:rPr lang="ru-RU" sz="2000" dirty="0"/>
            </a:br>
            <a:br>
              <a:rPr lang="ru-RU" sz="2000" dirty="0"/>
            </a:br>
            <a:r>
              <a:rPr lang="ru-RU" sz="2000" dirty="0"/>
              <a:t>Аномально высокое время транзакций 1 сентября</a:t>
            </a:r>
            <a:br>
              <a:rPr lang="ru-RU" sz="2000" dirty="0"/>
            </a:br>
            <a:endParaRPr lang="ru-RU" sz="2000" dirty="0"/>
          </a:p>
        </p:txBody>
      </p:sp>
      <p:graphicFrame>
        <p:nvGraphicFramePr>
          <p:cNvPr id="5" name="Объект 4">
            <a:extLst>
              <a:ext uri="{FF2B5EF4-FFF2-40B4-BE49-F238E27FC236}">
                <a16:creationId xmlns:a16="http://schemas.microsoft.com/office/drawing/2014/main" id="{60078002-592A-B61E-BDD4-9FEB1BF196D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6886089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000" advTm="29169"/>
    </mc:Choice>
    <mc:Fallback xmlns="">
      <p:transition spd="slow" advTm="29169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">
              <a:schemeClr val="accent1">
                <a:lumMod val="0"/>
                <a:lumOff val="100000"/>
                <a:alpha val="51000"/>
              </a:schemeClr>
            </a:gs>
            <a:gs pos="99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20000"/>
                <a:lumOff val="80000"/>
              </a:schemeClr>
            </a:gs>
            <a:gs pos="92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DEB1E0-6508-B34E-A433-DEF4B7E20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2000" dirty="0"/>
              <a:t>Увеличение ср. длительности транзакции с 03:00 до 06:00 на ул. Щорса</a:t>
            </a:r>
            <a:br>
              <a:rPr lang="ru-RU" sz="2000" dirty="0"/>
            </a:br>
            <a:br>
              <a:rPr lang="ru-RU" sz="2000" dirty="0"/>
            </a:br>
            <a:r>
              <a:rPr lang="ru-RU" sz="2000" dirty="0"/>
              <a:t>Увеличение ср. длительности транзакции с 11:00 до 15:00 на проспекте Ленина и Вернадского</a:t>
            </a:r>
            <a:br>
              <a:rPr lang="ru-RU" sz="2000" dirty="0"/>
            </a:br>
            <a:br>
              <a:rPr lang="ru-RU" sz="2000" dirty="0"/>
            </a:br>
            <a:r>
              <a:rPr lang="ru-RU" sz="2000" dirty="0"/>
              <a:t>На проспектах Ленинском и Вернадского с 11:00 до 15:00 выросло количество транзакция</a:t>
            </a: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C9D5CB31-96FE-140B-EE92-B7FD654984D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93610859"/>
              </p:ext>
            </p:extLst>
          </p:nvPr>
        </p:nvGraphicFramePr>
        <p:xfrm>
          <a:off x="838200" y="1825625"/>
          <a:ext cx="5257800" cy="36607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Объект 3">
            <a:extLst>
              <a:ext uri="{FF2B5EF4-FFF2-40B4-BE49-F238E27FC236}">
                <a16:creationId xmlns:a16="http://schemas.microsoft.com/office/drawing/2014/main" id="{020335D2-CD84-AEF8-09D4-0DA180EA38C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87262391"/>
              </p:ext>
            </p:extLst>
          </p:nvPr>
        </p:nvGraphicFramePr>
        <p:xfrm>
          <a:off x="6095998" y="1825625"/>
          <a:ext cx="5257801" cy="36607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3032239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000" advTm="32383"/>
    </mc:Choice>
    <mc:Fallback xmlns="">
      <p:transition spd="slow" advTm="32383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">
              <a:schemeClr val="accent1">
                <a:lumMod val="0"/>
                <a:lumOff val="100000"/>
                <a:alpha val="51000"/>
              </a:schemeClr>
            </a:gs>
            <a:gs pos="99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20000"/>
                <a:lumOff val="80000"/>
              </a:schemeClr>
            </a:gs>
            <a:gs pos="92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FDC603-B643-C943-01C5-CB6D863680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6072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ru-RU" sz="2000" dirty="0"/>
              <a:t>Увеличение ср. длительности транзакции с 03:00 до 06:00 на 1-ом сервере</a:t>
            </a:r>
            <a:br>
              <a:rPr lang="ru-RU" sz="2000" dirty="0"/>
            </a:br>
            <a:br>
              <a:rPr lang="ru-RU" sz="2000" dirty="0"/>
            </a:br>
            <a:r>
              <a:rPr lang="ru-RU" sz="2000" dirty="0"/>
              <a:t>Увеличение ср. длительности транзакции с 11:00 до 15:00 на втором сервере</a:t>
            </a:r>
            <a:br>
              <a:rPr lang="ru-RU" sz="2000" dirty="0"/>
            </a:br>
            <a:br>
              <a:rPr lang="ru-RU" sz="2000" dirty="0"/>
            </a:br>
            <a:r>
              <a:rPr lang="ru-RU" sz="2000" dirty="0"/>
              <a:t>Увеличение ср. длительности транзакции через все платежные системы с 11:00 до 15:00 часов. Через платежную систему МИР в  3:00 часа,  через платежную систему MasterCard в 5:00 часов и с 18:00 до 24:00, через платежную систему VISA в 5:00 часов</a:t>
            </a:r>
          </a:p>
        </p:txBody>
      </p:sp>
      <p:graphicFrame>
        <p:nvGraphicFramePr>
          <p:cNvPr id="7" name="Объект 6">
            <a:extLst>
              <a:ext uri="{FF2B5EF4-FFF2-40B4-BE49-F238E27FC236}">
                <a16:creationId xmlns:a16="http://schemas.microsoft.com/office/drawing/2014/main" id="{CB061783-16AC-4E30-2D1F-47547AB7031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1769887"/>
              </p:ext>
            </p:extLst>
          </p:nvPr>
        </p:nvGraphicFramePr>
        <p:xfrm>
          <a:off x="838200" y="2042908"/>
          <a:ext cx="5257800" cy="33008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" name="Диаграмма 2">
            <a:extLst>
              <a:ext uri="{FF2B5EF4-FFF2-40B4-BE49-F238E27FC236}">
                <a16:creationId xmlns:a16="http://schemas.microsoft.com/office/drawing/2014/main" id="{EF996271-4230-4A02-29C9-5A7B81682B2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51777745"/>
              </p:ext>
            </p:extLst>
          </p:nvPr>
        </p:nvGraphicFramePr>
        <p:xfrm>
          <a:off x="6096000" y="2042908"/>
          <a:ext cx="5257800" cy="33008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9419633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000" advTm="96910"/>
    </mc:Choice>
    <mc:Fallback xmlns="">
      <p:transition spd="slow" advTm="9691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">
              <a:schemeClr val="accent1">
                <a:lumMod val="0"/>
                <a:lumOff val="100000"/>
                <a:alpha val="51000"/>
              </a:schemeClr>
            </a:gs>
            <a:gs pos="99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20000"/>
                <a:lumOff val="80000"/>
              </a:schemeClr>
            </a:gs>
            <a:gs pos="92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3D26A42-76D8-3338-9B04-56AB2C805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br>
              <a:rPr lang="ru-RU" sz="2200" b="1" dirty="0"/>
            </a:br>
            <a:r>
              <a:rPr lang="ru-RU" sz="2200" b="1" dirty="0"/>
              <a:t>Сиреневый </a:t>
            </a:r>
            <a:r>
              <a:rPr lang="ru-RU" sz="2200" dirty="0"/>
              <a:t>— сервер 1 в период с 00:00 по 9:00 в день 05.09</a:t>
            </a:r>
            <a:br>
              <a:rPr lang="ru-RU" sz="2200" dirty="0"/>
            </a:br>
            <a:r>
              <a:rPr lang="ru-RU" sz="2200" b="1" dirty="0"/>
              <a:t>Оранжевый </a:t>
            </a:r>
            <a:r>
              <a:rPr lang="ru-RU" sz="2200" dirty="0"/>
              <a:t>— сервер 2 в период 12.00-13.00 в день 07.09</a:t>
            </a:r>
            <a:br>
              <a:rPr lang="ru-RU" sz="2200" dirty="0"/>
            </a:br>
            <a:r>
              <a:rPr lang="ru-RU" sz="2200" b="1" dirty="0"/>
              <a:t>Красный </a:t>
            </a:r>
            <a:r>
              <a:rPr lang="ru-RU" sz="2200" dirty="0"/>
              <a:t>— сервер 1 в течение всего дня 06.09</a:t>
            </a:r>
            <a:br>
              <a:rPr lang="ru-RU" dirty="0"/>
            </a:br>
            <a:endParaRPr lang="ru-RU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CD8FB24-B488-BD01-BC65-82973E69F83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2062" y="1893386"/>
            <a:ext cx="9667875" cy="4494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879379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000" advTm="41293"/>
    </mc:Choice>
    <mc:Fallback xmlns="">
      <p:transition spd="slow" advTm="41293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">
              <a:schemeClr val="accent1">
                <a:lumMod val="0"/>
                <a:lumOff val="100000"/>
                <a:alpha val="51000"/>
              </a:schemeClr>
            </a:gs>
            <a:gs pos="99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20000"/>
                <a:lumOff val="80000"/>
              </a:schemeClr>
            </a:gs>
            <a:gs pos="92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F4688D-5DF6-1D03-88BC-45CF452D29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2000" dirty="0"/>
              <a:t>Технические проблемы 5 сентября на первом сервере с 00:00-9:00 увеличили  среднюю длительность платежа на 42%</a:t>
            </a:r>
          </a:p>
        </p:txBody>
      </p:sp>
      <p:graphicFrame>
        <p:nvGraphicFramePr>
          <p:cNvPr id="8" name="Объект 7">
            <a:extLst>
              <a:ext uri="{FF2B5EF4-FFF2-40B4-BE49-F238E27FC236}">
                <a16:creationId xmlns:a16="http://schemas.microsoft.com/office/drawing/2014/main" id="{CF81091A-6AE9-8373-67C8-BE49F97AF34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7519062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000" advTm="12846"/>
    </mc:Choice>
    <mc:Fallback xmlns="">
      <p:transition spd="slow" advTm="12846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">
              <a:schemeClr val="accent1">
                <a:lumMod val="0"/>
                <a:lumOff val="100000"/>
                <a:alpha val="51000"/>
              </a:schemeClr>
            </a:gs>
            <a:gs pos="99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20000"/>
                <a:lumOff val="80000"/>
              </a:schemeClr>
            </a:gs>
            <a:gs pos="92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054BC1-8C4F-916F-1CDD-1E3F7F91B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2000" dirty="0"/>
              <a:t>Технические проблемы 7 сентября на втором сервере с 12:00-13:00 увеличили  среднюю длительность платежа на 69%</a:t>
            </a: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FF6AE78C-3DAE-702D-B573-9E674EFEFFD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48525044"/>
              </p:ext>
            </p:extLst>
          </p:nvPr>
        </p:nvGraphicFramePr>
        <p:xfrm>
          <a:off x="838200" y="1816571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1688154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000" advTm="9002"/>
    </mc:Choice>
    <mc:Fallback xmlns="">
      <p:transition spd="slow" advTm="9002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">
              <a:schemeClr val="accent1">
                <a:lumMod val="0"/>
                <a:lumOff val="100000"/>
                <a:alpha val="51000"/>
              </a:schemeClr>
            </a:gs>
            <a:gs pos="99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20000"/>
                <a:lumOff val="80000"/>
              </a:schemeClr>
            </a:gs>
            <a:gs pos="92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FBBA33-3FA2-5EC0-D2F0-39CDAC47D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2000" dirty="0"/>
              <a:t>Технические проблемы 6 сентября на первом сервере увеличили  среднюю длительность платежа на 24%</a:t>
            </a: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6513151E-FBE3-FA60-ADCE-BCA6E8FEC28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174961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000" advTm="6996"/>
    </mc:Choice>
    <mc:Fallback xmlns="">
      <p:transition spd="slow" advTm="6996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">
              <a:schemeClr val="accent1">
                <a:lumMod val="0"/>
                <a:lumOff val="100000"/>
                <a:alpha val="51000"/>
              </a:schemeClr>
            </a:gs>
            <a:gs pos="99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20000"/>
                <a:lumOff val="80000"/>
              </a:schemeClr>
            </a:gs>
            <a:gs pos="92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F91FCD-B718-2539-DF9F-66C20C976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2000" dirty="0"/>
              <a:t>Маркетинговая акция 7 сентября</a:t>
            </a:r>
          </a:p>
        </p:txBody>
      </p:sp>
      <p:graphicFrame>
        <p:nvGraphicFramePr>
          <p:cNvPr id="6" name="Объект 5">
            <a:extLst>
              <a:ext uri="{FF2B5EF4-FFF2-40B4-BE49-F238E27FC236}">
                <a16:creationId xmlns:a16="http://schemas.microsoft.com/office/drawing/2014/main" id="{EDF6EE61-ED33-0B45-047D-8CB1FCACC22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31037355"/>
              </p:ext>
            </p:extLst>
          </p:nvPr>
        </p:nvGraphicFramePr>
        <p:xfrm>
          <a:off x="838200" y="1825625"/>
          <a:ext cx="5257800" cy="37677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Диаграмма 6">
            <a:extLst>
              <a:ext uri="{FF2B5EF4-FFF2-40B4-BE49-F238E27FC236}">
                <a16:creationId xmlns:a16="http://schemas.microsoft.com/office/drawing/2014/main" id="{F9850282-32B6-C575-8433-5252FDA35DD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18114370"/>
              </p:ext>
            </p:extLst>
          </p:nvPr>
        </p:nvGraphicFramePr>
        <p:xfrm>
          <a:off x="5817140" y="2002630"/>
          <a:ext cx="5048656" cy="35907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9506339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000" advTm="40859"/>
    </mc:Choice>
    <mc:Fallback xmlns="">
      <p:transition spd="slow" advTm="40859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">
              <a:schemeClr val="accent1">
                <a:lumMod val="0"/>
                <a:lumOff val="100000"/>
                <a:alpha val="51000"/>
              </a:schemeClr>
            </a:gs>
            <a:gs pos="99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20000"/>
                <a:lumOff val="80000"/>
              </a:schemeClr>
            </a:gs>
            <a:gs pos="92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9A315B-AE4B-1FF4-69FE-ADEB7073B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2000" dirty="0"/>
              <a:t>Результат маркетинговой акции 7 сентября</a:t>
            </a:r>
          </a:p>
        </p:txBody>
      </p:sp>
      <p:graphicFrame>
        <p:nvGraphicFramePr>
          <p:cNvPr id="5" name="Объект 4">
            <a:extLst>
              <a:ext uri="{FF2B5EF4-FFF2-40B4-BE49-F238E27FC236}">
                <a16:creationId xmlns:a16="http://schemas.microsoft.com/office/drawing/2014/main" id="{9C02445B-7A74-F822-7568-ED239E96D53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53371279"/>
              </p:ext>
            </p:extLst>
          </p:nvPr>
        </p:nvGraphicFramePr>
        <p:xfrm>
          <a:off x="981075" y="2028826"/>
          <a:ext cx="10372725" cy="3104489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7816130">
                  <a:extLst>
                    <a:ext uri="{9D8B030D-6E8A-4147-A177-3AD203B41FA5}">
                      <a16:colId xmlns:a16="http://schemas.microsoft.com/office/drawing/2014/main" val="3515717322"/>
                    </a:ext>
                  </a:extLst>
                </a:gridCol>
                <a:gridCol w="2556595">
                  <a:extLst>
                    <a:ext uri="{9D8B030D-6E8A-4147-A177-3AD203B41FA5}">
                      <a16:colId xmlns:a16="http://schemas.microsoft.com/office/drawing/2014/main" val="1340412690"/>
                    </a:ext>
                  </a:extLst>
                </a:gridCol>
              </a:tblGrid>
              <a:tr h="45587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2000" u="none" strike="noStrike" dirty="0">
                          <a:effectLst/>
                        </a:rPr>
                        <a:t>Средний чек без акции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000" u="none" strike="noStrike" dirty="0">
                          <a:effectLst/>
                        </a:rPr>
                        <a:t>18 438 ₽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04536057"/>
                  </a:ext>
                </a:extLst>
              </a:tr>
              <a:tr h="45587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2000" u="none" strike="noStrike" dirty="0">
                          <a:effectLst/>
                        </a:rPr>
                        <a:t>Увеличение среднего чека в период акции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000" u="none" strike="noStrike" dirty="0">
                          <a:effectLst/>
                        </a:rPr>
                        <a:t>1 332 ₽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020879357"/>
                  </a:ext>
                </a:extLst>
              </a:tr>
              <a:tr h="45587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2000" u="none" strike="noStrike">
                          <a:effectLst/>
                        </a:rPr>
                        <a:t>% увеличения среднего чека в период акции</a:t>
                      </a:r>
                      <a:endParaRPr lang="ru-RU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000" u="none" strike="noStrike" dirty="0">
                          <a:effectLst/>
                        </a:rPr>
                        <a:t>7%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4294562"/>
                  </a:ext>
                </a:extLst>
              </a:tr>
              <a:tr h="45587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2000" u="none" strike="noStrike" dirty="0">
                          <a:effectLst/>
                        </a:rPr>
                        <a:t>Выручка от проведения акции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000" u="none" strike="noStrike" dirty="0">
                          <a:effectLst/>
                        </a:rPr>
                        <a:t>13 388 606,61 ₽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464964745"/>
                  </a:ext>
                </a:extLst>
              </a:tr>
              <a:tr h="45587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2000" u="none" strike="noStrike">
                          <a:effectLst/>
                        </a:rPr>
                        <a:t>Затраты на акцию</a:t>
                      </a:r>
                      <a:endParaRPr lang="ru-RU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000" u="none" strike="noStrike" dirty="0">
                          <a:effectLst/>
                        </a:rPr>
                        <a:t>2 418 500,00 ₽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258901635"/>
                  </a:ext>
                </a:extLst>
              </a:tr>
              <a:tr h="82512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2000" u="none" strike="noStrike">
                          <a:effectLst/>
                        </a:rPr>
                        <a:t>Прибыль от акции</a:t>
                      </a:r>
                      <a:endParaRPr lang="ru-RU" sz="2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000" u="none" strike="noStrike" dirty="0">
                          <a:effectLst/>
                        </a:rPr>
                        <a:t>10 970 105,61 ₽</a:t>
                      </a:r>
                      <a:endParaRPr lang="ru-RU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1978588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72445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000" advTm="42365"/>
    </mc:Choice>
    <mc:Fallback xmlns="">
      <p:transition spd="slow" advTm="42365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">
              <a:schemeClr val="accent1">
                <a:lumMod val="0"/>
                <a:lumOff val="100000"/>
                <a:alpha val="51000"/>
              </a:schemeClr>
            </a:gs>
            <a:gs pos="99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20000"/>
                <a:lumOff val="80000"/>
              </a:schemeClr>
            </a:gs>
            <a:gs pos="92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52ED3B-C8AB-8DB8-669F-662CE42E5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457200"/>
            <a:ext cx="10579608" cy="1188720"/>
          </a:xfrm>
        </p:spPr>
        <p:txBody>
          <a:bodyPr>
            <a:normAutofit/>
          </a:bodyPr>
          <a:lstStyle/>
          <a:p>
            <a:pPr algn="ctr"/>
            <a:r>
              <a:rPr lang="ru-RU" sz="2000" dirty="0">
                <a:solidFill>
                  <a:schemeClr val="tx2"/>
                </a:solidFill>
              </a:rPr>
              <a:t>Наши потери от программы лояльности на одну транзакцию</a:t>
            </a:r>
            <a:r>
              <a:rPr lang="en-US" sz="2000" dirty="0">
                <a:solidFill>
                  <a:schemeClr val="tx2"/>
                </a:solidFill>
              </a:rPr>
              <a:t>.</a:t>
            </a:r>
            <a:endParaRPr lang="ru-RU" sz="2000" dirty="0">
              <a:solidFill>
                <a:schemeClr val="tx2"/>
              </a:solidFill>
            </a:endParaRPr>
          </a:p>
        </p:txBody>
      </p:sp>
      <p:graphicFrame>
        <p:nvGraphicFramePr>
          <p:cNvPr id="5" name="Объект 4">
            <a:extLst>
              <a:ext uri="{FF2B5EF4-FFF2-40B4-BE49-F238E27FC236}">
                <a16:creationId xmlns:a16="http://schemas.microsoft.com/office/drawing/2014/main" id="{C3879A30-A20E-6279-4899-B3D489A8A48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77293588"/>
              </p:ext>
            </p:extLst>
          </p:nvPr>
        </p:nvGraphicFramePr>
        <p:xfrm>
          <a:off x="1223322" y="2543633"/>
          <a:ext cx="9745357" cy="3566163"/>
        </p:xfrm>
        <a:graphic>
          <a:graphicData uri="http://schemas.openxmlformats.org/drawingml/2006/table">
            <a:tbl>
              <a:tblPr/>
              <a:tblGrid>
                <a:gridCol w="2368015">
                  <a:extLst>
                    <a:ext uri="{9D8B030D-6E8A-4147-A177-3AD203B41FA5}">
                      <a16:colId xmlns:a16="http://schemas.microsoft.com/office/drawing/2014/main" val="449168109"/>
                    </a:ext>
                  </a:extLst>
                </a:gridCol>
                <a:gridCol w="3460945">
                  <a:extLst>
                    <a:ext uri="{9D8B030D-6E8A-4147-A177-3AD203B41FA5}">
                      <a16:colId xmlns:a16="http://schemas.microsoft.com/office/drawing/2014/main" val="425257767"/>
                    </a:ext>
                  </a:extLst>
                </a:gridCol>
                <a:gridCol w="3916397">
                  <a:extLst>
                    <a:ext uri="{9D8B030D-6E8A-4147-A177-3AD203B41FA5}">
                      <a16:colId xmlns:a16="http://schemas.microsoft.com/office/drawing/2014/main" val="1865201148"/>
                    </a:ext>
                  </a:extLst>
                </a:gridCol>
              </a:tblGrid>
              <a:tr h="43825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3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Дата</a:t>
                      </a:r>
                      <a:endParaRPr lang="ru-RU" sz="37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9530" marR="19530" marT="1953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23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Количество транзакций</a:t>
                      </a:r>
                      <a:endParaRPr lang="en-US" sz="37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9530" marR="19530" marT="1953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23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Средний размер скидки</a:t>
                      </a:r>
                      <a:endParaRPr lang="ru-RU" sz="37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9530" marR="19530" marT="1953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0561744"/>
                  </a:ext>
                </a:extLst>
              </a:tr>
              <a:tr h="78197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  <a:endParaRPr lang="ru-RU" sz="37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9530" marR="19530" marT="1953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10120</a:t>
                      </a:r>
                      <a:endParaRPr lang="ru-RU" sz="37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9530" marR="19530" marT="1953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 121,57₽ </a:t>
                      </a:r>
                      <a:endParaRPr lang="ru-RU" sz="37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9530" marR="19530" marT="1953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3152360"/>
                  </a:ext>
                </a:extLst>
              </a:tr>
              <a:tr h="78197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  <a:endParaRPr lang="ru-RU" sz="3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9530" marR="19530" marT="1953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10217</a:t>
                      </a:r>
                      <a:endParaRPr lang="ru-RU" sz="37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9530" marR="19530" marT="1953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 125,99₽ </a:t>
                      </a:r>
                      <a:endParaRPr lang="ru-RU" sz="37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9530" marR="19530" marT="1953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300831"/>
                  </a:ext>
                </a:extLst>
              </a:tr>
              <a:tr h="78197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  <a:endParaRPr lang="ru-RU" sz="3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9530" marR="19530" marT="1953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10053</a:t>
                      </a:r>
                      <a:endParaRPr lang="ru-RU" sz="3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9530" marR="19530" marT="1953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 136,91₽ </a:t>
                      </a:r>
                      <a:endParaRPr lang="ru-RU" sz="37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9530" marR="19530" marT="1953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4948172"/>
                  </a:ext>
                </a:extLst>
              </a:tr>
              <a:tr h="78197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3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Общий итог</a:t>
                      </a:r>
                      <a:endParaRPr lang="ru-RU" sz="3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9530" marR="19530" marT="1953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3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30390</a:t>
                      </a:r>
                      <a:endParaRPr lang="ru-RU" sz="37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9530" marR="19530" marT="1953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3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 </a:t>
                      </a:r>
                    </a:p>
                    <a:p>
                      <a:pPr algn="ctr" fontAlgn="b">
                        <a:buNone/>
                      </a:pPr>
                      <a:r>
                        <a:rPr lang="ru-RU" sz="23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128,13 ₽ </a:t>
                      </a:r>
                      <a:endParaRPr lang="ru-RU" sz="37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9530" marR="19530" marT="1953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44142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436474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000" advTm="43941"/>
    </mc:Choice>
    <mc:Fallback xmlns="">
      <p:transition spd="slow" advTm="4394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">
              <a:schemeClr val="accent1">
                <a:lumMod val="0"/>
                <a:lumOff val="100000"/>
                <a:alpha val="51000"/>
              </a:schemeClr>
            </a:gs>
            <a:gs pos="99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20000"/>
                <a:lumOff val="80000"/>
              </a:schemeClr>
            </a:gs>
            <a:gs pos="92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1A7CEF-7D5D-96C7-C4E1-DB19C9F3C9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2000" dirty="0"/>
              <a:t>Экономия клиентов</a:t>
            </a: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A2E621A8-0F4E-565E-9107-C7C9D38F5CE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85484970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1451014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000" advTm="61915"/>
    </mc:Choice>
    <mc:Fallback xmlns="">
      <p:transition spd="slow" advTm="61915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">
              <a:schemeClr val="accent1">
                <a:lumMod val="0"/>
                <a:lumOff val="100000"/>
                <a:alpha val="51000"/>
              </a:schemeClr>
            </a:gs>
            <a:gs pos="99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20000"/>
                <a:lumOff val="80000"/>
              </a:schemeClr>
            </a:gs>
            <a:gs pos="92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9147C7-BBAF-38C7-A9A0-E837C64AAA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pPr algn="ctr"/>
            <a:r>
              <a:rPr lang="ru-RU" sz="2800" dirty="0"/>
              <a:t>При снижении размера скидки по программе лояльности свыше 3%  на 1 процентный пункт, получим экономию в 12,63%</a:t>
            </a: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C6694787-CBAC-0E54-5254-EC3105B6029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97027492"/>
              </p:ext>
            </p:extLst>
          </p:nvPr>
        </p:nvGraphicFramePr>
        <p:xfrm>
          <a:off x="838200" y="2442441"/>
          <a:ext cx="10515602" cy="3325176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7318332">
                  <a:extLst>
                    <a:ext uri="{9D8B030D-6E8A-4147-A177-3AD203B41FA5}">
                      <a16:colId xmlns:a16="http://schemas.microsoft.com/office/drawing/2014/main" val="3593202874"/>
                    </a:ext>
                  </a:extLst>
                </a:gridCol>
                <a:gridCol w="3197270">
                  <a:extLst>
                    <a:ext uri="{9D8B030D-6E8A-4147-A177-3AD203B41FA5}">
                      <a16:colId xmlns:a16="http://schemas.microsoft.com/office/drawing/2014/main" val="4084715639"/>
                    </a:ext>
                  </a:extLst>
                </a:gridCol>
              </a:tblGrid>
              <a:tr h="110839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3200" u="none" strike="noStrike" dirty="0">
                          <a:effectLst/>
                        </a:rPr>
                        <a:t>средняя скидка по старой программе</a:t>
                      </a:r>
                    </a:p>
                  </a:txBody>
                  <a:tcPr marL="27682" marR="27682" marT="2768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ru-RU" sz="3200" u="none" strike="noStrike" dirty="0">
                          <a:effectLst/>
                        </a:rPr>
                        <a:t>   128,13 ₽ </a:t>
                      </a:r>
                      <a:endParaRPr lang="ru-RU" sz="3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7682" marR="27682" marT="27682" marB="0" anchor="b"/>
                </a:tc>
                <a:extLst>
                  <a:ext uri="{0D108BD9-81ED-4DB2-BD59-A6C34878D82A}">
                    <a16:rowId xmlns:a16="http://schemas.microsoft.com/office/drawing/2014/main" val="1160588559"/>
                  </a:ext>
                </a:extLst>
              </a:tr>
              <a:tr h="110839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3200" u="none" strike="noStrike" dirty="0">
                          <a:effectLst/>
                        </a:rPr>
                        <a:t>средняя скидка по новой программе</a:t>
                      </a:r>
                    </a:p>
                  </a:txBody>
                  <a:tcPr marL="27682" marR="27682" marT="2768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ru-RU" sz="3200" u="none" strike="noStrike" dirty="0">
                          <a:effectLst/>
                        </a:rPr>
                        <a:t>   111,95 ₽ </a:t>
                      </a:r>
                      <a:endParaRPr lang="ru-RU" sz="3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7682" marR="27682" marT="27682" marB="0" anchor="b"/>
                </a:tc>
                <a:extLst>
                  <a:ext uri="{0D108BD9-81ED-4DB2-BD59-A6C34878D82A}">
                    <a16:rowId xmlns:a16="http://schemas.microsoft.com/office/drawing/2014/main" val="2319485467"/>
                  </a:ext>
                </a:extLst>
              </a:tr>
              <a:tr h="110839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3200" u="none" strike="noStrike" dirty="0">
                        <a:effectLst/>
                      </a:endParaRPr>
                    </a:p>
                    <a:p>
                      <a:pPr algn="l" fontAlgn="b">
                        <a:buNone/>
                      </a:pPr>
                      <a:r>
                        <a:rPr lang="ru-RU" sz="3200" u="none" strike="noStrike" dirty="0">
                          <a:effectLst/>
                        </a:rPr>
                        <a:t>коэффициент прироста</a:t>
                      </a:r>
                    </a:p>
                  </a:txBody>
                  <a:tcPr marL="27682" marR="27682" marT="2768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ru-RU" sz="3200" u="none" strike="noStrike" dirty="0">
                          <a:effectLst/>
                        </a:rPr>
                        <a:t>-12,63%</a:t>
                      </a:r>
                      <a:endParaRPr lang="ru-RU" sz="3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7682" marR="27682" marT="27682" marB="0" anchor="b"/>
                </a:tc>
                <a:extLst>
                  <a:ext uri="{0D108BD9-81ED-4DB2-BD59-A6C34878D82A}">
                    <a16:rowId xmlns:a16="http://schemas.microsoft.com/office/drawing/2014/main" val="35946122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361141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000" advTm="16843"/>
    </mc:Choice>
    <mc:Fallback xmlns="">
      <p:transition spd="slow" advTm="16843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">
              <a:schemeClr val="accent1">
                <a:lumMod val="0"/>
                <a:lumOff val="100000"/>
                <a:alpha val="51000"/>
              </a:schemeClr>
            </a:gs>
            <a:gs pos="99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20000"/>
                <a:lumOff val="80000"/>
              </a:schemeClr>
            </a:gs>
            <a:gs pos="92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542137-196C-1957-D4C7-5E7A78599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2000" dirty="0"/>
              <a:t>Затраты на работу серверов</a:t>
            </a: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B2291991-414B-DF6F-6946-5F2ABBBE663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16674445"/>
              </p:ext>
            </p:extLst>
          </p:nvPr>
        </p:nvGraphicFramePr>
        <p:xfrm>
          <a:off x="1352551" y="1417320"/>
          <a:ext cx="4343400" cy="4023360"/>
        </p:xfrm>
        <a:graphic>
          <a:graphicData uri="http://schemas.openxmlformats.org/drawingml/2006/table">
            <a:tbl>
              <a:tblPr/>
              <a:tblGrid>
                <a:gridCol w="1485900">
                  <a:extLst>
                    <a:ext uri="{9D8B030D-6E8A-4147-A177-3AD203B41FA5}">
                      <a16:colId xmlns:a16="http://schemas.microsoft.com/office/drawing/2014/main" val="1655357294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781696392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3624076586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1884766452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ru-RU" dirty="0">
                          <a:effectLst/>
                        </a:rPr>
                        <a:t>Стоимость операций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dirty="0">
                          <a:effectLst/>
                        </a:rPr>
                        <a:t>1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>
                          <a:effectLst/>
                        </a:rPr>
                        <a:t>2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dirty="0">
                          <a:effectLst/>
                        </a:rPr>
                        <a:t>3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8519139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effectLst/>
                        </a:rPr>
                        <a:t>R_01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>
                          <a:effectLst/>
                        </a:rPr>
                        <a:t>р.0,30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>
                          <a:effectLst/>
                        </a:rPr>
                        <a:t>р.0,50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>
                          <a:effectLst/>
                        </a:rPr>
                        <a:t>р.0,58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2657170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effectLst/>
                        </a:rPr>
                        <a:t>R_02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>
                          <a:effectLst/>
                        </a:rPr>
                        <a:t>р.0,35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>
                          <a:effectLst/>
                        </a:rPr>
                        <a:t>р.0,60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>
                          <a:effectLst/>
                        </a:rPr>
                        <a:t>р.0,62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1578438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effectLst/>
                        </a:rPr>
                        <a:t>R_20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>
                          <a:effectLst/>
                        </a:rPr>
                        <a:t>р.0,45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>
                          <a:effectLst/>
                        </a:rPr>
                        <a:t>р.0,65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>
                          <a:effectLst/>
                        </a:rPr>
                        <a:t>р.0,69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0436479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effectLst/>
                        </a:rPr>
                        <a:t>AM_01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>
                          <a:effectLst/>
                        </a:rPr>
                        <a:t>р.1,20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>
                          <a:effectLst/>
                        </a:rPr>
                        <a:t>р.1,35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>
                          <a:effectLst/>
                        </a:rPr>
                        <a:t>р.1,40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5218056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effectLst/>
                        </a:rPr>
                        <a:t>AM_02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>
                          <a:effectLst/>
                        </a:rPr>
                        <a:t>р.1,25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>
                          <a:effectLst/>
                        </a:rPr>
                        <a:t>р.1,55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>
                          <a:effectLst/>
                        </a:rPr>
                        <a:t>р.1,44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6938489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effectLst/>
                        </a:rPr>
                        <a:t>EU_01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>
                          <a:effectLst/>
                        </a:rPr>
                        <a:t>р.1,40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>
                          <a:effectLst/>
                        </a:rPr>
                        <a:t>р.1,80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>
                          <a:effectLst/>
                        </a:rPr>
                        <a:t>р.1,85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355944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effectLst/>
                        </a:rPr>
                        <a:t>EU_02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>
                          <a:effectLst/>
                        </a:rPr>
                        <a:t>р.1,45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>
                          <a:effectLst/>
                        </a:rPr>
                        <a:t>р.1,90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>
                          <a:effectLst/>
                        </a:rPr>
                        <a:t>р.1,90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7547614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effectLst/>
                        </a:rPr>
                        <a:t>KZ_01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>
                          <a:effectLst/>
                        </a:rPr>
                        <a:t>р.0,80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>
                          <a:effectLst/>
                        </a:rPr>
                        <a:t>р.1,00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>
                          <a:effectLst/>
                        </a:rPr>
                        <a:t>р.1,05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3940798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effectLst/>
                        </a:rPr>
                        <a:t>KZ_02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>
                          <a:effectLst/>
                        </a:rPr>
                        <a:t>р.0,82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>
                          <a:effectLst/>
                        </a:rPr>
                        <a:t>р.1,10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>
                          <a:effectLst/>
                        </a:rPr>
                        <a:t>р.1,08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6004404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effectLst/>
                        </a:rPr>
                        <a:t>KZ_20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>
                          <a:effectLst/>
                        </a:rPr>
                        <a:t>р.0,84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>
                          <a:effectLst/>
                        </a:rPr>
                        <a:t>р.1,20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>
                          <a:effectLst/>
                        </a:rPr>
                        <a:t>р.1,14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8745108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effectLst/>
                        </a:rPr>
                        <a:t>A_01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>
                          <a:effectLst/>
                        </a:rPr>
                        <a:t>р.2,30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>
                          <a:effectLst/>
                        </a:rPr>
                        <a:t>р.3,00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dirty="0">
                          <a:effectLst/>
                        </a:rPr>
                        <a:t>р.3,11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8141324"/>
                  </a:ext>
                </a:extLst>
              </a:tr>
            </a:tbl>
          </a:graphicData>
        </a:graphic>
      </p:graphicFrame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79B90B67-3259-E0A4-1F5E-8554DA8126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9699556"/>
              </p:ext>
            </p:extLst>
          </p:nvPr>
        </p:nvGraphicFramePr>
        <p:xfrm>
          <a:off x="6387408" y="1417320"/>
          <a:ext cx="4143375" cy="4023360"/>
        </p:xfrm>
        <a:graphic>
          <a:graphicData uri="http://schemas.openxmlformats.org/drawingml/2006/table">
            <a:tbl>
              <a:tblPr/>
              <a:tblGrid>
                <a:gridCol w="1285875">
                  <a:extLst>
                    <a:ext uri="{9D8B030D-6E8A-4147-A177-3AD203B41FA5}">
                      <a16:colId xmlns:a16="http://schemas.microsoft.com/office/drawing/2014/main" val="3813248579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1778950522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649247078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888399476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dirty="0">
                          <a:effectLst/>
                        </a:rPr>
                        <a:t>Кол-во операций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>
                          <a:effectLst/>
                        </a:rPr>
                        <a:t>1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>
                          <a:effectLst/>
                        </a:rPr>
                        <a:t>2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>
                          <a:effectLst/>
                        </a:rPr>
                        <a:t>3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8595464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effectLst/>
                        </a:rPr>
                        <a:t>R_01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>
                          <a:effectLst/>
                        </a:rPr>
                        <a:t>1 542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>
                          <a:effectLst/>
                        </a:rPr>
                        <a:t>3 816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>
                          <a:effectLst/>
                        </a:rPr>
                        <a:t>2 088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8172271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effectLst/>
                        </a:rPr>
                        <a:t>R_02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>
                          <a:effectLst/>
                        </a:rPr>
                        <a:t>5 825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>
                          <a:effectLst/>
                        </a:rPr>
                        <a:t>17 094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>
                          <a:effectLst/>
                        </a:rPr>
                        <a:t>14 471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991164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effectLst/>
                        </a:rPr>
                        <a:t>R_20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>
                          <a:effectLst/>
                        </a:rPr>
                        <a:t>2 634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>
                          <a:effectLst/>
                        </a:rPr>
                        <a:t>7 495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>
                          <a:effectLst/>
                        </a:rPr>
                        <a:t>6 179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300587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effectLst/>
                        </a:rPr>
                        <a:t>AM_01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>
                          <a:effectLst/>
                        </a:rPr>
                        <a:t>227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>
                          <a:effectLst/>
                        </a:rPr>
                        <a:t>701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>
                          <a:effectLst/>
                        </a:rPr>
                        <a:t>533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2506057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effectLst/>
                        </a:rPr>
                        <a:t>AM_02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>
                          <a:effectLst/>
                        </a:rPr>
                        <a:t>80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>
                          <a:effectLst/>
                        </a:rPr>
                        <a:t>253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>
                          <a:effectLst/>
                        </a:rPr>
                        <a:t>183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6234815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effectLst/>
                        </a:rPr>
                        <a:t>EU_01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>
                          <a:effectLst/>
                        </a:rPr>
                        <a:t>142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>
                          <a:effectLst/>
                        </a:rPr>
                        <a:t>429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>
                          <a:effectLst/>
                        </a:rPr>
                        <a:t>312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5919673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effectLst/>
                        </a:rPr>
                        <a:t>EU_02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>
                          <a:effectLst/>
                        </a:rPr>
                        <a:t>52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>
                          <a:effectLst/>
                        </a:rPr>
                        <a:t>139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>
                          <a:effectLst/>
                        </a:rPr>
                        <a:t>104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5310038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effectLst/>
                        </a:rPr>
                        <a:t>KZ_01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>
                          <a:effectLst/>
                        </a:rPr>
                        <a:t>15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>
                          <a:effectLst/>
                        </a:rPr>
                        <a:t>26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>
                          <a:effectLst/>
                        </a:rPr>
                        <a:t>12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9702382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effectLst/>
                        </a:rPr>
                        <a:t>KZ_02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>
                          <a:effectLst/>
                        </a:rPr>
                        <a:t>40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>
                          <a:effectLst/>
                        </a:rPr>
                        <a:t>110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>
                          <a:effectLst/>
                        </a:rPr>
                        <a:t>92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1655849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effectLst/>
                        </a:rPr>
                        <a:t>KZ_20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>
                          <a:effectLst/>
                        </a:rPr>
                        <a:t>9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>
                          <a:effectLst/>
                        </a:rPr>
                        <a:t>48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>
                          <a:effectLst/>
                        </a:rPr>
                        <a:t>43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607606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effectLst/>
                        </a:rPr>
                        <a:t>A_01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>
                          <a:effectLst/>
                        </a:rPr>
                        <a:t>56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>
                          <a:effectLst/>
                        </a:rPr>
                        <a:t>158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dirty="0">
                          <a:effectLst/>
                        </a:rPr>
                        <a:t>142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146276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F2546B3A-7DA2-E216-1F1F-881034A933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047680"/>
              </p:ext>
            </p:extLst>
          </p:nvPr>
        </p:nvGraphicFramePr>
        <p:xfrm>
          <a:off x="3837725" y="5668859"/>
          <a:ext cx="4343400" cy="624840"/>
        </p:xfrm>
        <a:graphic>
          <a:graphicData uri="http://schemas.openxmlformats.org/drawingml/2006/table">
            <a:tbl>
              <a:tblPr/>
              <a:tblGrid>
                <a:gridCol w="1447800">
                  <a:extLst>
                    <a:ext uri="{9D8B030D-6E8A-4147-A177-3AD203B41FA5}">
                      <a16:colId xmlns:a16="http://schemas.microsoft.com/office/drawing/2014/main" val="950083422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781797896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1853934867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dirty="0">
                          <a:effectLst/>
                        </a:rPr>
                        <a:t>Затраты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dirty="0">
                          <a:effectLst/>
                        </a:rPr>
                        <a:t>Скидка 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dirty="0">
                          <a:effectLst/>
                        </a:rPr>
                        <a:t>К оплате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8616952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ru-RU">
                          <a:effectLst/>
                        </a:rPr>
                        <a:t>р.41 437,65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ru-RU">
                          <a:effectLst/>
                        </a:rPr>
                        <a:t>р.1 942,02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ru-RU" dirty="0">
                          <a:effectLst/>
                        </a:rPr>
                        <a:t>р.39 495,63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12993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97032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000" advTm="53299"/>
    </mc:Choice>
    <mc:Fallback xmlns="">
      <p:transition spd="slow" advTm="53299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">
              <a:schemeClr val="accent1">
                <a:lumMod val="0"/>
                <a:lumOff val="100000"/>
                <a:alpha val="51000"/>
              </a:schemeClr>
            </a:gs>
            <a:gs pos="99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20000"/>
                <a:lumOff val="80000"/>
              </a:schemeClr>
            </a:gs>
            <a:gs pos="92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0D99D9-7A1F-22ED-D2D0-9735ED253D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000" b="1" dirty="0"/>
              <a:t>DASHBOARD</a:t>
            </a:r>
            <a:endParaRPr lang="ru-RU" sz="2000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7C9FEFA5-0659-D530-5DA7-A299102361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417644" y="1825625"/>
            <a:ext cx="935671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1542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000" advTm="49451"/>
    </mc:Choice>
    <mc:Fallback xmlns="">
      <p:transition spd="slow" advTm="4945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">
              <a:schemeClr val="accent1">
                <a:lumMod val="0"/>
                <a:lumOff val="100000"/>
                <a:alpha val="51000"/>
              </a:schemeClr>
            </a:gs>
            <a:gs pos="99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20000"/>
                <a:lumOff val="80000"/>
              </a:schemeClr>
            </a:gs>
            <a:gs pos="92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9D329E-38A0-477A-8605-8DC941AE9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2ACB2B-C638-2072-6BDE-44CAE19D0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000" b="1" dirty="0"/>
              <a:t>DASHBOARD</a:t>
            </a:r>
            <a:endParaRPr lang="ru-RU" sz="2000" dirty="0"/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22D1CB75-56D7-1E9C-7E77-1FC8F77BCB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919038" y="1311274"/>
            <a:ext cx="8353924" cy="5020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88575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000" advTm="40146"/>
    </mc:Choice>
    <mc:Fallback xmlns="">
      <p:transition spd="slow" advTm="40146"/>
    </mc:Fallback>
  </mc:AlternateContent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2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3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4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5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6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7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8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9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10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11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12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13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14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15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16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17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18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19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697</TotalTime>
  <Words>884</Words>
  <Application>Microsoft Office PowerPoint</Application>
  <PresentationFormat>Широкоэкранный</PresentationFormat>
  <Paragraphs>218</Paragraphs>
  <Slides>20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5" baseType="lpstr">
      <vt:lpstr>Aptos</vt:lpstr>
      <vt:lpstr>Aptos Display</vt:lpstr>
      <vt:lpstr>Arial</vt:lpstr>
      <vt:lpstr>Calibri</vt:lpstr>
      <vt:lpstr>Тема Office</vt:lpstr>
      <vt:lpstr>Отчет о анализе работы торгового ритейлера</vt:lpstr>
      <vt:lpstr>           3 сентября открытие торговой точка на ул. Чертановская 20к2 –                                                    снижение транзакций на  Симферопольском б-ре 22</vt:lpstr>
      <vt:lpstr>            Открытии торговой точки на ул. Чертановская,  20к2, -  возросла нагрузка на  сервер №3. Для снижения нагрузки на сервер №3 привязать торговую точку на Ракетный б-р, 14к1 к серверу №1 </vt:lpstr>
      <vt:lpstr>Изменение нагрузки на серверы после изменения привязки</vt:lpstr>
      <vt:lpstr>Доли транзакций на кассах самообслуживания (КСО)</vt:lpstr>
      <vt:lpstr>Увеличение времени транзакций с увеличение доли транзакций через КСО.  Аномально высокое время транзакций 1 сентября </vt:lpstr>
      <vt:lpstr>Увеличение ср. длительности транзакции с 03:00 до 06:00 на ул. Щорса  Увеличение ср. длительности транзакции с 11:00 до 15:00 на проспекте Ленина и Вернадского  На проспектах Ленинском и Вернадского с 11:00 до 15:00 выросло количество транзакция</vt:lpstr>
      <vt:lpstr>Увеличение ср. длительности транзакции с 03:00 до 06:00 на 1-ом сервере  Увеличение ср. длительности транзакции с 11:00 до 15:00 на втором сервере  Увеличение ср. длительности транзакции через все платежные системы с 11:00 до 15:00 часов. Через платежную систему МИР в  3:00 часа,  через платежную систему MasterCard в 5:00 часов и с 18:00 до 24:00, через платежную систему VISA в 5:00 часов</vt:lpstr>
      <vt:lpstr> Сиреневый — сервер 1 в период с 00:00 по 9:00 в день 05.09 Оранжевый — сервер 2 в период 12.00-13.00 в день 07.09 Красный — сервер 1 в течение всего дня 06.09 </vt:lpstr>
      <vt:lpstr>Технические проблемы 5 сентября на первом сервере с 00:00-9:00 увеличили  среднюю длительность платежа на 42%</vt:lpstr>
      <vt:lpstr>Технические проблемы 7 сентября на втором сервере с 12:00-13:00 увеличили  среднюю длительность платежа на 69%</vt:lpstr>
      <vt:lpstr>Технические проблемы 6 сентября на первом сервере увеличили  среднюю длительность платежа на 24%</vt:lpstr>
      <vt:lpstr>Маркетинговая акция 7 сентября</vt:lpstr>
      <vt:lpstr>Результат маркетинговой акции 7 сентября</vt:lpstr>
      <vt:lpstr>Наши потери от программы лояльности на одну транзакцию.</vt:lpstr>
      <vt:lpstr>Экономия клиентов</vt:lpstr>
      <vt:lpstr>При снижении размера скидки по программе лояльности свыше 3%  на 1 процентный пункт, получим экономию в 12,63%</vt:lpstr>
      <vt:lpstr>Затраты на работу серверов</vt:lpstr>
      <vt:lpstr>DASHBOARD</vt:lpstr>
      <vt:lpstr>DASHBOARD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Ruslan Vasilev</dc:creator>
  <cp:lastModifiedBy>Ruslan Vasilev</cp:lastModifiedBy>
  <cp:revision>16</cp:revision>
  <dcterms:created xsi:type="dcterms:W3CDTF">2025-08-01T11:26:12Z</dcterms:created>
  <dcterms:modified xsi:type="dcterms:W3CDTF">2026-04-24T16:11:11Z</dcterms:modified>
</cp:coreProperties>
</file>